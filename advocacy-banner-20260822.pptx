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861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30861000" cy="12858750"/>
          </a:xfrm>
          <a:prstGeom prst="rect">
            <a:avLst/>
          </a:prstGeom>
          <a:solidFill>
            <a:srgbClr val="5A3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1" descr="advocacy-banner-panel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905750"/>
          </a:xfrm>
          <a:prstGeom prst="rect">
            <a:avLst/>
          </a:prstGeom>
        </p:spPr>
      </p:pic>
      <p:pic>
        <p:nvPicPr>
          <p:cNvPr id="4" name="photo-2" descr="advocacy-banner-panel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0"/>
            <a:ext cx="10287000" cy="7905750"/>
          </a:xfrm>
          <a:prstGeom prst="rect">
            <a:avLst/>
          </a:prstGeom>
        </p:spPr>
      </p:pic>
      <p:pic>
        <p:nvPicPr>
          <p:cNvPr id="5" name="photo-3" descr="advocacy-banner-panel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0" y="0"/>
            <a:ext cx="10287000" cy="7905750"/>
          </a:xfrm>
          <a:prstGeom prst="rect">
            <a:avLst/>
          </a:prstGeom>
        </p:spPr>
      </p:pic>
      <p:sp>
        <p:nvSpPr>
          <p:cNvPr id="6" name="seam-1"/>
          <p:cNvSpPr/>
          <p:nvPr/>
        </p:nvSpPr>
        <p:spPr>
          <a:xfrm>
            <a:off x="10229850" y="0"/>
            <a:ext cx="114300" cy="7905750"/>
          </a:xfrm>
          <a:prstGeom prst="rect">
            <a:avLst/>
          </a:prstGeom>
          <a:solidFill>
            <a:srgbClr val="F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am-2"/>
          <p:cNvSpPr/>
          <p:nvPr/>
        </p:nvSpPr>
        <p:spPr>
          <a:xfrm>
            <a:off x="20516850" y="0"/>
            <a:ext cx="114300" cy="7905750"/>
          </a:xfrm>
          <a:prstGeom prst="rect">
            <a:avLst/>
          </a:prstGeom>
          <a:solidFill>
            <a:srgbClr val="F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 txBox="1"/>
          <p:nvPr/>
        </p:nvSpPr>
        <p:spPr>
          <a:xfrm>
            <a:off x="914400" y="8572500"/>
            <a:ext cx="104775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32"/>
              </a:lnSpc>
            </a:pPr>
            <a:r>
              <a:rPr sz="2550" b="0" i="0" spc="510">
                <a:solidFill>
                  <a:srgbClr val="E4DDE0"/>
                </a:solidFill>
                <a:latin typeface="Work Sans"/>
              </a:rPr>
              <a:t>THE STATE OF YOGA IN AUSTRALIA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914400" y="9086850"/>
            <a:ext cx="9144000" cy="276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9792"/>
              </a:lnSpc>
            </a:pPr>
            <a:r>
              <a:rPr sz="9600" b="0" i="0">
                <a:solidFill>
                  <a:srgbClr val="F8F5F1"/>
                </a:solidFill>
                <a:latin typeface="Larken Medium"/>
              </a:rPr>
              <a:t>State of Yoga</a:t>
            </a:r>
          </a:p>
          <a:p>
            <a:pPr algn="l">
              <a:lnSpc>
                <a:spcPts val="9792"/>
              </a:lnSpc>
            </a:pPr>
            <a:r>
              <a:rPr sz="9600" b="0" i="0">
                <a:solidFill>
                  <a:srgbClr val="F8F5F1"/>
                </a:solidFill>
                <a:latin typeface="Larken Medium"/>
              </a:rPr>
              <a:t>2026</a:t>
            </a:r>
          </a:p>
        </p:txBody>
      </p:sp>
      <p:sp>
        <p:nvSpPr>
          <p:cNvPr id="10" name="movement-01-number"/>
          <p:cNvSpPr txBox="1"/>
          <p:nvPr/>
        </p:nvSpPr>
        <p:spPr>
          <a:xfrm>
            <a:off x="11201400" y="9144000"/>
            <a:ext cx="666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50"/>
              </a:lnSpc>
            </a:pPr>
            <a:r>
              <a:rPr sz="3000" b="0" i="0">
                <a:solidFill>
                  <a:srgbClr val="E4DDE0"/>
                </a:solidFill>
                <a:latin typeface="Larken Light"/>
              </a:rPr>
              <a:t>01</a:t>
            </a:r>
          </a:p>
        </p:txBody>
      </p:sp>
      <p:sp>
        <p:nvSpPr>
          <p:cNvPr id="11" name="movement-01-name"/>
          <p:cNvSpPr txBox="1"/>
          <p:nvPr/>
        </p:nvSpPr>
        <p:spPr>
          <a:xfrm>
            <a:off x="11963400" y="9067800"/>
            <a:ext cx="7810500" cy="628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484"/>
              </a:lnSpc>
            </a:pPr>
            <a:r>
              <a:rPr sz="3900" b="0" i="0">
                <a:solidFill>
                  <a:srgbClr val="F8F5F1"/>
                </a:solidFill>
                <a:latin typeface="Larken"/>
              </a:rPr>
              <a:t>Clearing the Air</a:t>
            </a:r>
          </a:p>
        </p:txBody>
      </p:sp>
      <p:sp>
        <p:nvSpPr>
          <p:cNvPr id="12" name="movement-02-number"/>
          <p:cNvSpPr txBox="1"/>
          <p:nvPr/>
        </p:nvSpPr>
        <p:spPr>
          <a:xfrm>
            <a:off x="11201400" y="10020300"/>
            <a:ext cx="666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50"/>
              </a:lnSpc>
            </a:pPr>
            <a:r>
              <a:rPr sz="3000" b="0" i="0">
                <a:solidFill>
                  <a:srgbClr val="E4DDE0"/>
                </a:solidFill>
                <a:latin typeface="Larken Light"/>
              </a:rPr>
              <a:t>02</a:t>
            </a:r>
          </a:p>
        </p:txBody>
      </p:sp>
      <p:sp>
        <p:nvSpPr>
          <p:cNvPr id="13" name="movement-02-name"/>
          <p:cNvSpPr txBox="1"/>
          <p:nvPr/>
        </p:nvSpPr>
        <p:spPr>
          <a:xfrm>
            <a:off x="11963400" y="9944100"/>
            <a:ext cx="7810500" cy="628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484"/>
              </a:lnSpc>
            </a:pPr>
            <a:r>
              <a:rPr sz="3900" b="0" i="0">
                <a:solidFill>
                  <a:srgbClr val="F8F5F1"/>
                </a:solidFill>
                <a:latin typeface="Larken"/>
              </a:rPr>
              <a:t>Sustainability</a:t>
            </a:r>
          </a:p>
        </p:txBody>
      </p:sp>
      <p:sp>
        <p:nvSpPr>
          <p:cNvPr id="14" name="movement-03-number"/>
          <p:cNvSpPr txBox="1"/>
          <p:nvPr/>
        </p:nvSpPr>
        <p:spPr>
          <a:xfrm>
            <a:off x="11201400" y="10896600"/>
            <a:ext cx="666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50"/>
              </a:lnSpc>
            </a:pPr>
            <a:r>
              <a:rPr sz="3000" b="0" i="0">
                <a:solidFill>
                  <a:srgbClr val="E4DDE0"/>
                </a:solidFill>
                <a:latin typeface="Larken Light"/>
              </a:rPr>
              <a:t>03</a:t>
            </a:r>
          </a:p>
        </p:txBody>
      </p:sp>
      <p:sp>
        <p:nvSpPr>
          <p:cNvPr id="15" name="movement-03-name"/>
          <p:cNvSpPr txBox="1"/>
          <p:nvPr/>
        </p:nvSpPr>
        <p:spPr>
          <a:xfrm>
            <a:off x="11963400" y="10820400"/>
            <a:ext cx="7810500" cy="628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484"/>
              </a:lnSpc>
            </a:pPr>
            <a:r>
              <a:rPr sz="3900" b="0" i="0">
                <a:solidFill>
                  <a:srgbClr val="F8F5F1"/>
                </a:solidFill>
                <a:latin typeface="Larken"/>
              </a:rPr>
              <a:t>Emerging Paths</a:t>
            </a:r>
          </a:p>
        </p:txBody>
      </p:sp>
      <p:sp>
        <p:nvSpPr>
          <p:cNvPr id="16" name="movement-04-number"/>
          <p:cNvSpPr txBox="1"/>
          <p:nvPr/>
        </p:nvSpPr>
        <p:spPr>
          <a:xfrm>
            <a:off x="21488400" y="9144000"/>
            <a:ext cx="666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50"/>
              </a:lnSpc>
            </a:pPr>
            <a:r>
              <a:rPr sz="3000" b="0" i="0">
                <a:solidFill>
                  <a:srgbClr val="E4DDE0"/>
                </a:solidFill>
                <a:latin typeface="Larken Light"/>
              </a:rPr>
              <a:t>04</a:t>
            </a:r>
          </a:p>
        </p:txBody>
      </p:sp>
      <p:sp>
        <p:nvSpPr>
          <p:cNvPr id="17" name="movement-04-name"/>
          <p:cNvSpPr txBox="1"/>
          <p:nvPr/>
        </p:nvSpPr>
        <p:spPr>
          <a:xfrm>
            <a:off x="22250400" y="9067800"/>
            <a:ext cx="7810500" cy="628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484"/>
              </a:lnSpc>
            </a:pPr>
            <a:r>
              <a:rPr sz="3900" b="0" i="0">
                <a:solidFill>
                  <a:srgbClr val="F8F5F1"/>
                </a:solidFill>
                <a:latin typeface="Larken"/>
              </a:rPr>
              <a:t>New to Teaching</a:t>
            </a:r>
          </a:p>
        </p:txBody>
      </p:sp>
      <p:sp>
        <p:nvSpPr>
          <p:cNvPr id="18" name="movement-05-number"/>
          <p:cNvSpPr txBox="1"/>
          <p:nvPr/>
        </p:nvSpPr>
        <p:spPr>
          <a:xfrm>
            <a:off x="21488400" y="10020300"/>
            <a:ext cx="666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50"/>
              </a:lnSpc>
            </a:pPr>
            <a:r>
              <a:rPr sz="3000" b="0" i="0">
                <a:solidFill>
                  <a:srgbClr val="E4DDE0"/>
                </a:solidFill>
                <a:latin typeface="Larken Light"/>
              </a:rPr>
              <a:t>05</a:t>
            </a:r>
          </a:p>
        </p:txBody>
      </p:sp>
      <p:sp>
        <p:nvSpPr>
          <p:cNvPr id="19" name="movement-05-name"/>
          <p:cNvSpPr txBox="1"/>
          <p:nvPr/>
        </p:nvSpPr>
        <p:spPr>
          <a:xfrm>
            <a:off x="22250400" y="9944100"/>
            <a:ext cx="7810500" cy="628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484"/>
              </a:lnSpc>
            </a:pPr>
            <a:r>
              <a:rPr sz="3900" b="0" i="0">
                <a:solidFill>
                  <a:srgbClr val="F8F5F1"/>
                </a:solidFill>
                <a:latin typeface="Larken"/>
              </a:rPr>
              <a:t>Modelling Leadership</a:t>
            </a:r>
          </a:p>
        </p:txBody>
      </p:sp>
      <p:pic>
        <p:nvPicPr>
          <p:cNvPr id="20" name="lockup" descr="YA logo RGB white 800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94446" y="11144250"/>
            <a:ext cx="2352154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