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0287000" cy="1828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hoto" descr="_baked_phot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287000" cy="18288000"/>
          </a:xfrm>
          <a:prstGeom prst="rect">
            <a:avLst/>
          </a:prstGeom>
        </p:spPr>
      </p:pic>
      <p:sp>
        <p:nvSpPr>
          <p:cNvPr id="3" name="card-head"/>
          <p:cNvSpPr/>
          <p:nvPr/>
        </p:nvSpPr>
        <p:spPr>
          <a:xfrm>
            <a:off x="1466850" y="2571750"/>
            <a:ext cx="7334250" cy="1285875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card-body"/>
          <p:cNvSpPr/>
          <p:nvPr/>
        </p:nvSpPr>
        <p:spPr>
          <a:xfrm>
            <a:off x="1466850" y="3857625"/>
            <a:ext cx="7334250" cy="29813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card-header"/>
          <p:cNvSpPr txBox="1"/>
          <p:nvPr/>
        </p:nvSpPr>
        <p:spPr>
          <a:xfrm>
            <a:off x="1752600" y="2571750"/>
            <a:ext cx="6762750" cy="1285875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ts val="3811"/>
              </a:lnSpc>
            </a:pPr>
            <a:r>
              <a:rPr sz="3150" b="0" i="0">
                <a:solidFill>
                  <a:srgbClr val="FFFFFF"/>
                </a:solidFill>
                <a:latin typeface="Work Sans"/>
              </a:rPr>
              <a:t>TEST Ask us anything about</a:t>
            </a:r>
          </a:p>
          <a:p>
            <a:pPr algn="ctr">
              <a:lnSpc>
                <a:spcPts val="3811"/>
              </a:lnSpc>
            </a:pPr>
            <a:r>
              <a:rPr sz="3150" b="0" i="0">
                <a:solidFill>
                  <a:srgbClr val="FFFFFF"/>
                </a:solidFill>
                <a:latin typeface="Work Sans"/>
              </a:rPr>
              <a:t>private health rebates for yoga...</a:t>
            </a:r>
          </a:p>
        </p:txBody>
      </p:sp>
      <p:sp>
        <p:nvSpPr>
          <p:cNvPr id="6" name="question"/>
          <p:cNvSpPr txBox="1"/>
          <p:nvPr/>
        </p:nvSpPr>
        <p:spPr>
          <a:xfrm>
            <a:off x="2038350" y="4143375"/>
            <a:ext cx="6191250" cy="2124075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ts val="3811"/>
              </a:lnSpc>
            </a:pPr>
            <a:r>
              <a:rPr sz="3150" b="0" i="0">
                <a:solidFill>
                  <a:srgbClr val="262626"/>
                </a:solidFill>
                <a:latin typeface="Work Sans"/>
              </a:rPr>
              <a:t>Do I have to be a member of Yoga Australia to apply for registration?</a:t>
            </a:r>
          </a:p>
        </p:txBody>
      </p:sp>
      <p:pic>
        <p:nvPicPr>
          <p:cNvPr id="7" name="answer-pills" descr="_baked_answer-pill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8724900"/>
            <a:ext cx="10287000" cy="4333875"/>
          </a:xfrm>
          <a:prstGeom prst="rect">
            <a:avLst/>
          </a:prstGeom>
        </p:spPr>
      </p:pic>
      <p:sp>
        <p:nvSpPr>
          <p:cNvPr id="8" name="answer"/>
          <p:cNvSpPr txBox="1"/>
          <p:nvPr/>
        </p:nvSpPr>
        <p:spPr>
          <a:xfrm>
            <a:off x="0" y="8791575"/>
            <a:ext cx="10287000" cy="420172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ts val="4726"/>
              </a:lnSpc>
            </a:pPr>
            <a:r>
              <a:rPr sz="4050" b="0" i="0">
                <a:solidFill>
                  <a:srgbClr val="FFFFFF"/>
                </a:solidFill>
                <a:latin typeface="Work Sans"/>
              </a:rPr>
              <a:t>Yes. Applications are made directly</a:t>
            </a:r>
          </a:p>
          <a:p>
            <a:pPr algn="ctr">
              <a:lnSpc>
                <a:spcPts val="4726"/>
              </a:lnSpc>
            </a:pPr>
            <a:r>
              <a:rPr sz="4050" b="0" i="0">
                <a:solidFill>
                  <a:srgbClr val="FFFFFF"/>
                </a:solidFill>
                <a:latin typeface="Work Sans"/>
              </a:rPr>
              <a:t>through Yoga Australia. Yoga</a:t>
            </a:r>
          </a:p>
          <a:p>
            <a:pPr algn="ctr">
              <a:lnSpc>
                <a:spcPts val="4726"/>
              </a:lnSpc>
            </a:pPr>
            <a:r>
              <a:rPr sz="4050" b="0" i="0">
                <a:solidFill>
                  <a:srgbClr val="FFFFFF"/>
                </a:solidFill>
                <a:latin typeface="Work Sans"/>
              </a:rPr>
              <a:t>Australia uses its registration</a:t>
            </a:r>
          </a:p>
          <a:p>
            <a:pPr algn="ctr">
              <a:lnSpc>
                <a:spcPts val="4726"/>
              </a:lnSpc>
            </a:pPr>
            <a:r>
              <a:rPr sz="4050" b="0" i="0">
                <a:solidFill>
                  <a:srgbClr val="FFFFFF"/>
                </a:solidFill>
                <a:latin typeface="Work Sans"/>
              </a:rPr>
              <a:t>framework to assess eligible</a:t>
            </a:r>
          </a:p>
          <a:p>
            <a:pPr algn="ctr">
              <a:lnSpc>
                <a:spcPts val="4726"/>
              </a:lnSpc>
            </a:pPr>
            <a:r>
              <a:rPr sz="4050" b="0" i="0">
                <a:solidFill>
                  <a:srgbClr val="FFFFFF"/>
                </a:solidFill>
                <a:latin typeface="Work Sans"/>
              </a:rPr>
              <a:t>teachers and provides the resulting</a:t>
            </a:r>
          </a:p>
          <a:p>
            <a:pPr algn="ctr">
              <a:lnSpc>
                <a:spcPts val="4726"/>
              </a:lnSpc>
            </a:pPr>
            <a:r>
              <a:rPr sz="4050" b="0" i="0">
                <a:solidFill>
                  <a:srgbClr val="FFFFFF"/>
                </a:solidFill>
                <a:latin typeface="Work Sans"/>
              </a:rPr>
              <a:t>list directly to the funds. There is no</a:t>
            </a:r>
          </a:p>
          <a:p>
            <a:pPr algn="ctr">
              <a:lnSpc>
                <a:spcPts val="4726"/>
              </a:lnSpc>
            </a:pPr>
            <a:r>
              <a:rPr sz="4050" b="0" i="0">
                <a:solidFill>
                  <a:srgbClr val="FFFFFF"/>
                </a:solidFill>
                <a:latin typeface="Work Sans"/>
              </a:rPr>
              <a:t>separate application to the funds.</a:t>
            </a:r>
          </a:p>
        </p:txBody>
      </p:sp>
      <p:sp>
        <p:nvSpPr>
          <p:cNvPr id="9" name="button"/>
          <p:cNvSpPr/>
          <p:nvPr/>
        </p:nvSpPr>
        <p:spPr>
          <a:xfrm>
            <a:off x="3171825" y="16078200"/>
            <a:ext cx="3924300" cy="800100"/>
          </a:xfrm>
          <a:prstGeom prst="roundRect">
            <a:avLst>
              <a:gd name="adj" fmla="val 50000"/>
            </a:avLst>
          </a:prstGeom>
          <a:noFill/>
          <a:ln w="476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button-label"/>
          <p:cNvSpPr txBox="1"/>
          <p:nvPr/>
        </p:nvSpPr>
        <p:spPr>
          <a:xfrm>
            <a:off x="3171825" y="16078200"/>
            <a:ext cx="3924300" cy="8001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ts val="3000"/>
              </a:lnSpc>
            </a:pPr>
            <a:r>
              <a:rPr sz="3000" b="0" i="0" spc="150">
                <a:solidFill>
                  <a:srgbClr val="FFFFFF"/>
                </a:solidFill>
                <a:latin typeface="Work Sans"/>
              </a:rPr>
              <a:t>LEARN MORE</a:t>
            </a:r>
          </a:p>
        </p:txBody>
      </p:sp>
      <p:pic>
        <p:nvPicPr>
          <p:cNvPr id="11" name="cursor" descr="_baked_curso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72250" y="16192500"/>
            <a:ext cx="857250" cy="9525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