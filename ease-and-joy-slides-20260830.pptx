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10287000" cy="1828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287000" cy="18288000"/>
          </a:xfrm>
          <a:prstGeom prst="rect">
            <a:avLst/>
          </a:prstGeom>
          <a:solidFill>
            <a:srgbClr val="F0E8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frog-hoji.png"/>
          <p:cNvPicPr>
            <a:picLocks noChangeAspect="1"/>
          </p:cNvPicPr>
          <p:nvPr/>
        </p:nvPicPr>
        <p:blipFill>
          <a:blip r:embed="rId2"/>
          <a:stretch>
            <a:fillRect/>
          </a:stretch>
        </p:blipFill>
        <p:spPr>
          <a:xfrm>
            <a:off x="2871978" y="5429250"/>
            <a:ext cx="4542949" cy="6400610"/>
          </a:xfrm>
          <a:prstGeom prst="rect">
            <a:avLst/>
          </a:prstGeom>
        </p:spPr>
      </p:pic>
      <p:sp>
        <p:nvSpPr>
          <p:cNvPr id="4" name="TextBox 3"/>
          <p:cNvSpPr txBox="1"/>
          <p:nvPr/>
        </p:nvSpPr>
        <p:spPr>
          <a:xfrm>
            <a:off x="857250" y="1619250"/>
            <a:ext cx="8572500" cy="402241"/>
          </a:xfrm>
          <a:prstGeom prst="rect">
            <a:avLst/>
          </a:prstGeom>
          <a:noFill/>
        </p:spPr>
        <p:txBody>
          <a:bodyPr wrap="square" lIns="0" rIns="0" tIns="0" bIns="0" anchor="t">
            <a:noAutofit/>
          </a:bodyPr>
          <a:lstStyle/>
          <a:p>
            <a:pPr algn="l">
              <a:lnSpc>
                <a:spcPts val="3168"/>
              </a:lnSpc>
            </a:pPr>
            <a:r>
              <a:rPr sz="2400" b="0" i="0" spc="480">
                <a:solidFill>
                  <a:srgbClr val="6C8466"/>
                </a:solidFill>
                <a:latin typeface="Oswald"/>
              </a:rPr>
              <a:t>AFTERNOON ZAZEN · ZEN MEDITATION</a:t>
            </a:r>
          </a:p>
        </p:txBody>
      </p:sp>
      <p:sp>
        <p:nvSpPr>
          <p:cNvPr id="5" name="TextBox 4"/>
          <p:cNvSpPr txBox="1"/>
          <p:nvPr/>
        </p:nvSpPr>
        <p:spPr>
          <a:xfrm>
            <a:off x="857250" y="2659666"/>
            <a:ext cx="8572500" cy="3314700"/>
          </a:xfrm>
          <a:prstGeom prst="rect">
            <a:avLst/>
          </a:prstGeom>
          <a:noFill/>
        </p:spPr>
        <p:txBody>
          <a:bodyPr wrap="square" lIns="0" rIns="0" tIns="0" bIns="0" anchor="t">
            <a:noAutofit/>
          </a:bodyPr>
          <a:lstStyle/>
          <a:p>
            <a:pPr algn="l">
              <a:lnSpc>
                <a:spcPts val="13050"/>
              </a:lnSpc>
            </a:pPr>
            <a:r>
              <a:rPr sz="15000" b="1" i="0" spc="-225">
                <a:solidFill>
                  <a:srgbClr val="6C8466"/>
                </a:solidFill>
                <a:latin typeface="Oswald"/>
              </a:rPr>
              <a:t>EASE</a:t>
            </a:r>
          </a:p>
          <a:p>
            <a:pPr algn="l">
              <a:lnSpc>
                <a:spcPts val="13050"/>
              </a:lnSpc>
            </a:pPr>
            <a:r>
              <a:rPr sz="15000" b="1" i="0" spc="-225">
                <a:solidFill>
                  <a:srgbClr val="6C8466"/>
                </a:solidFill>
                <a:latin typeface="Oswald"/>
              </a:rPr>
              <a:t>AND JOY</a:t>
            </a:r>
          </a:p>
        </p:txBody>
      </p:sp>
      <p:sp>
        <p:nvSpPr>
          <p:cNvPr id="6" name="TextBox 5"/>
          <p:cNvSpPr txBox="1"/>
          <p:nvPr/>
        </p:nvSpPr>
        <p:spPr>
          <a:xfrm>
            <a:off x="857250" y="11617357"/>
            <a:ext cx="8572500" cy="2679668"/>
          </a:xfrm>
          <a:prstGeom prst="rect">
            <a:avLst/>
          </a:prstGeom>
          <a:noFill/>
        </p:spPr>
        <p:txBody>
          <a:bodyPr wrap="square" lIns="0" rIns="0" tIns="0" bIns="0" anchor="t">
            <a:noAutofit/>
          </a:bodyPr>
          <a:lstStyle/>
          <a:p>
            <a:pPr algn="l">
              <a:lnSpc>
                <a:spcPts val="4221"/>
              </a:lnSpc>
            </a:pPr>
            <a:r>
              <a:rPr sz="3150" b="0" i="1">
                <a:solidFill>
                  <a:srgbClr val="1C1C1A"/>
                </a:solidFill>
                <a:latin typeface="Lora"/>
              </a:rPr>
              <a:t>“To get in touch with reality, there is an art of meditation, of what is called yoga or jhāna in India, chan in China, and Zen in Japan. It is the art of temporarily silencing the mind, of stopping the chatter in the skull.”</a:t>
            </a:r>
          </a:p>
        </p:txBody>
      </p:sp>
      <p:sp>
        <p:nvSpPr>
          <p:cNvPr id="7" name="TextBox 6"/>
          <p:cNvSpPr txBox="1"/>
          <p:nvPr/>
        </p:nvSpPr>
        <p:spPr>
          <a:xfrm>
            <a:off x="857250" y="14525625"/>
            <a:ext cx="8572500" cy="390525"/>
          </a:xfrm>
          <a:prstGeom prst="rect">
            <a:avLst/>
          </a:prstGeom>
          <a:noFill/>
        </p:spPr>
        <p:txBody>
          <a:bodyPr wrap="square" lIns="0" rIns="0" tIns="0" bIns="0" anchor="t">
            <a:noAutofit/>
          </a:bodyPr>
          <a:lstStyle/>
          <a:p>
            <a:pPr algn="l"/>
            <a:r>
              <a:rPr sz="2100" b="1" i="0" spc="378">
                <a:solidFill>
                  <a:srgbClr val="6C8466"/>
                </a:solidFill>
                <a:latin typeface="Oswald"/>
              </a:rPr>
              <a:t>ALAN WATTS</a:t>
            </a:r>
          </a:p>
        </p:txBody>
      </p:sp>
      <p:sp>
        <p:nvSpPr>
          <p:cNvPr id="8" name="Rectangle 7"/>
          <p:cNvSpPr/>
          <p:nvPr/>
        </p:nvSpPr>
        <p:spPr>
          <a:xfrm>
            <a:off x="857250" y="15240000"/>
            <a:ext cx="571500" cy="19050"/>
          </a:xfrm>
          <a:prstGeom prst="rect">
            <a:avLst/>
          </a:prstGeom>
          <a:solidFill>
            <a:srgbClr val="6C84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7250" y="15506700"/>
            <a:ext cx="8572500" cy="1828800"/>
          </a:xfrm>
          <a:prstGeom prst="rect">
            <a:avLst/>
          </a:prstGeom>
          <a:noFill/>
        </p:spPr>
        <p:txBody>
          <a:bodyPr wrap="square" lIns="0" rIns="0" tIns="0" bIns="0" anchor="t">
            <a:noAutofit/>
          </a:bodyPr>
          <a:lstStyle/>
          <a:p>
            <a:pPr algn="l">
              <a:lnSpc>
                <a:spcPts val="3600"/>
              </a:lnSpc>
            </a:pPr>
            <a:r>
              <a:rPr sz="2250" b="1" i="0" spc="270">
                <a:solidFill>
                  <a:srgbClr val="1C1C1A"/>
                </a:solidFill>
                <a:latin typeface="Oswald"/>
              </a:rPr>
              <a:t>A FOUR-WEEK COURSE · FOUR CONSECUTIVE TUESDAYS IN SEPTEMBER</a:t>
            </a:r>
          </a:p>
          <a:p>
            <a:pPr algn="l">
              <a:lnSpc>
                <a:spcPts val="3600"/>
              </a:lnSpc>
            </a:pPr>
            <a:r>
              <a:rPr sz="2250" b="1" i="0" spc="270">
                <a:solidFill>
                  <a:srgbClr val="1C1C1A"/>
                </a:solidFill>
                <a:latin typeface="Oswald"/>
              </a:rPr>
              <a:t>THE 8TH, 15TH, 22ND AND 29TH</a:t>
            </a:r>
            <a:r>
              <a:rPr sz="2250" b="0" i="0" spc="270">
                <a:solidFill>
                  <a:srgbClr val="6C8466"/>
                </a:solidFill>
                <a:latin typeface="Oswald"/>
              </a:rPr>
              <a:t> · 5.15PM</a:t>
            </a:r>
          </a:p>
          <a:p>
            <a:pPr algn="l">
              <a:lnSpc>
                <a:spcPts val="3600"/>
              </a:lnSpc>
            </a:pPr>
            <a:r>
              <a:rPr sz="2250" b="0" i="0" spc="270">
                <a:solidFill>
                  <a:srgbClr val="6C8466"/>
                </a:solidFill>
                <a:latin typeface="Oswald"/>
              </a:rPr>
              <a:t>LEVEL 2, 372 KING STREET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sawaki.png"/>
          <p:cNvPicPr>
            <a:picLocks noChangeAspect="1"/>
          </p:cNvPicPr>
          <p:nvPr/>
        </p:nvPicPr>
        <p:blipFill>
          <a:blip r:embed="rId2"/>
          <a:stretch>
            <a:fillRect/>
          </a:stretch>
        </p:blipFill>
        <p:spPr>
          <a:xfrm>
            <a:off x="0" y="0"/>
            <a:ext cx="10287000" cy="18288000"/>
          </a:xfrm>
          <a:prstGeom prst="rect">
            <a:avLst/>
          </a:prstGeom>
        </p:spPr>
      </p:pic>
      <p:sp>
        <p:nvSpPr>
          <p:cNvPr id="3" name="TextBox 2"/>
          <p:cNvSpPr txBox="1"/>
          <p:nvPr/>
        </p:nvSpPr>
        <p:spPr>
          <a:xfrm>
            <a:off x="857250" y="1619250"/>
            <a:ext cx="8572500" cy="402241"/>
          </a:xfrm>
          <a:prstGeom prst="rect">
            <a:avLst/>
          </a:prstGeom>
          <a:noFill/>
        </p:spPr>
        <p:txBody>
          <a:bodyPr wrap="square" lIns="0" rIns="0" tIns="0" bIns="0" anchor="t">
            <a:noAutofit/>
          </a:bodyPr>
          <a:lstStyle/>
          <a:p>
            <a:pPr algn="l">
              <a:lnSpc>
                <a:spcPts val="3168"/>
              </a:lnSpc>
            </a:pPr>
            <a:r>
              <a:rPr sz="2400" b="0" i="0" spc="480">
                <a:solidFill>
                  <a:srgbClr val="EDE6CF"/>
                </a:solidFill>
                <a:latin typeface="Oswald"/>
              </a:rPr>
              <a:t>AFTERNOON ZAZEN · ZEN MEDITATION</a:t>
            </a:r>
          </a:p>
        </p:txBody>
      </p:sp>
      <p:sp>
        <p:nvSpPr>
          <p:cNvPr id="4" name="TextBox 3"/>
          <p:cNvSpPr txBox="1"/>
          <p:nvPr/>
        </p:nvSpPr>
        <p:spPr>
          <a:xfrm>
            <a:off x="857250" y="2659666"/>
            <a:ext cx="8572500" cy="3314700"/>
          </a:xfrm>
          <a:prstGeom prst="rect">
            <a:avLst/>
          </a:prstGeom>
          <a:noFill/>
        </p:spPr>
        <p:txBody>
          <a:bodyPr wrap="square" lIns="0" rIns="0" tIns="0" bIns="0" anchor="t">
            <a:noAutofit/>
          </a:bodyPr>
          <a:lstStyle/>
          <a:p>
            <a:pPr algn="l">
              <a:lnSpc>
                <a:spcPts val="13050"/>
              </a:lnSpc>
            </a:pPr>
            <a:r>
              <a:rPr sz="15000" b="1" i="0" spc="-225">
                <a:solidFill>
                  <a:srgbClr val="EDE6CF"/>
                </a:solidFill>
                <a:latin typeface="Oswald"/>
              </a:rPr>
              <a:t>EASE</a:t>
            </a:r>
          </a:p>
          <a:p>
            <a:pPr algn="l">
              <a:lnSpc>
                <a:spcPts val="13050"/>
              </a:lnSpc>
            </a:pPr>
            <a:r>
              <a:rPr sz="15000" b="1" i="0" spc="-225">
                <a:solidFill>
                  <a:srgbClr val="EDE6CF"/>
                </a:solidFill>
                <a:latin typeface="Oswald"/>
              </a:rPr>
              <a:t>AND JOY</a:t>
            </a:r>
          </a:p>
        </p:txBody>
      </p:sp>
      <p:sp>
        <p:nvSpPr>
          <p:cNvPr id="5" name="TextBox 4"/>
          <p:cNvSpPr txBox="1"/>
          <p:nvPr/>
        </p:nvSpPr>
        <p:spPr>
          <a:xfrm>
            <a:off x="857250" y="11617357"/>
            <a:ext cx="8572500" cy="2679668"/>
          </a:xfrm>
          <a:prstGeom prst="rect">
            <a:avLst/>
          </a:prstGeom>
          <a:noFill/>
        </p:spPr>
        <p:txBody>
          <a:bodyPr wrap="square" lIns="0" rIns="0" tIns="0" bIns="0" anchor="t">
            <a:noAutofit/>
          </a:bodyPr>
          <a:lstStyle/>
          <a:p>
            <a:pPr algn="l">
              <a:lnSpc>
                <a:spcPts val="4221"/>
              </a:lnSpc>
            </a:pPr>
            <a:r>
              <a:rPr sz="3150" b="0" i="1">
                <a:solidFill>
                  <a:srgbClr val="FFFFFF"/>
                </a:solidFill>
                <a:latin typeface="Lora"/>
              </a:rPr>
              <a:t>“To get in touch with reality, there is an art of meditation, of what is called yoga or jhāna in India, chan in China, and Zen in Japan. It is the art of temporarily silencing the mind, of stopping the chatter in the skull.”</a:t>
            </a:r>
          </a:p>
        </p:txBody>
      </p:sp>
      <p:sp>
        <p:nvSpPr>
          <p:cNvPr id="6" name="TextBox 5"/>
          <p:cNvSpPr txBox="1"/>
          <p:nvPr/>
        </p:nvSpPr>
        <p:spPr>
          <a:xfrm>
            <a:off x="857250" y="14525625"/>
            <a:ext cx="8572500" cy="390525"/>
          </a:xfrm>
          <a:prstGeom prst="rect">
            <a:avLst/>
          </a:prstGeom>
          <a:noFill/>
        </p:spPr>
        <p:txBody>
          <a:bodyPr wrap="square" lIns="0" rIns="0" tIns="0" bIns="0" anchor="t">
            <a:noAutofit/>
          </a:bodyPr>
          <a:lstStyle/>
          <a:p>
            <a:pPr algn="l"/>
            <a:r>
              <a:rPr sz="2100" b="1" i="0" spc="378">
                <a:solidFill>
                  <a:srgbClr val="EDE6CF"/>
                </a:solidFill>
                <a:latin typeface="Oswald"/>
              </a:rPr>
              <a:t>ALAN WATTS</a:t>
            </a:r>
          </a:p>
        </p:txBody>
      </p:sp>
      <p:sp>
        <p:nvSpPr>
          <p:cNvPr id="7" name="Rectangle 6"/>
          <p:cNvSpPr/>
          <p:nvPr/>
        </p:nvSpPr>
        <p:spPr>
          <a:xfrm>
            <a:off x="857250" y="15240000"/>
            <a:ext cx="571500" cy="19050"/>
          </a:xfrm>
          <a:prstGeom prst="rect">
            <a:avLst/>
          </a:prstGeom>
          <a:solidFill>
            <a:srgbClr val="EDE6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7250" y="15506700"/>
            <a:ext cx="8572500" cy="1828800"/>
          </a:xfrm>
          <a:prstGeom prst="rect">
            <a:avLst/>
          </a:prstGeom>
          <a:noFill/>
        </p:spPr>
        <p:txBody>
          <a:bodyPr wrap="square" lIns="0" rIns="0" tIns="0" bIns="0" anchor="t">
            <a:noAutofit/>
          </a:bodyPr>
          <a:lstStyle/>
          <a:p>
            <a:pPr algn="l">
              <a:lnSpc>
                <a:spcPts val="3600"/>
              </a:lnSpc>
            </a:pPr>
            <a:r>
              <a:rPr sz="2250" b="1" i="0" spc="270">
                <a:solidFill>
                  <a:srgbClr val="FFFFFF"/>
                </a:solidFill>
                <a:latin typeface="Oswald"/>
              </a:rPr>
              <a:t>A FOUR-WEEK COURSE · FOUR CONSECUTIVE TUESDAYS IN SEPTEMBER</a:t>
            </a:r>
          </a:p>
          <a:p>
            <a:pPr algn="l">
              <a:lnSpc>
                <a:spcPts val="3600"/>
              </a:lnSpc>
            </a:pPr>
            <a:r>
              <a:rPr sz="2250" b="1" i="0" spc="270">
                <a:solidFill>
                  <a:srgbClr val="FFFFFF"/>
                </a:solidFill>
                <a:latin typeface="Oswald"/>
              </a:rPr>
              <a:t>THE 8TH, 15TH, 22ND AND 29TH</a:t>
            </a:r>
            <a:r>
              <a:rPr sz="2250" b="0" i="0" spc="270">
                <a:solidFill>
                  <a:srgbClr val="EDE6CF"/>
                </a:solidFill>
                <a:latin typeface="Oswald"/>
              </a:rPr>
              <a:t> · 5.15PM</a:t>
            </a:r>
          </a:p>
          <a:p>
            <a:pPr algn="l">
              <a:lnSpc>
                <a:spcPts val="3600"/>
              </a:lnSpc>
            </a:pPr>
            <a:r>
              <a:rPr sz="2250" b="0" i="0" spc="270">
                <a:solidFill>
                  <a:srgbClr val="EDE6CF"/>
                </a:solidFill>
                <a:latin typeface="Oswald"/>
              </a:rPr>
              <a:t>LEVEL 2, 372 KING STREET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