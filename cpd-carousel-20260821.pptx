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0287000" cy="1285875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round"/>
          <p:cNvSpPr/>
          <p:nvPr/>
        </p:nvSpPr>
        <p:spPr>
          <a:xfrm>
            <a:off x="0" y="0"/>
            <a:ext cx="10287000" cy="12858750"/>
          </a:xfrm>
          <a:prstGeom prst="rect">
            <a:avLst/>
          </a:prstGeom>
          <a:solidFill>
            <a:srgbClr val="7457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artwork" descr="_baked_artwork.png"/>
          <p:cNvPicPr>
            <a:picLocks noChangeAspect="1"/>
          </p:cNvPicPr>
          <p:nvPr/>
        </p:nvPicPr>
        <p:blipFill>
          <a:blip r:embed="rId2"/>
          <a:stretch>
            <a:fillRect/>
          </a:stretch>
        </p:blipFill>
        <p:spPr>
          <a:xfrm>
            <a:off x="5238750" y="0"/>
            <a:ext cx="5048250" cy="12858750"/>
          </a:xfrm>
          <a:prstGeom prst="rect">
            <a:avLst/>
          </a:prstGeom>
        </p:spPr>
      </p:pic>
      <p:sp>
        <p:nvSpPr>
          <p:cNvPr id="4" name="chip"/>
          <p:cNvSpPr/>
          <p:nvPr/>
        </p:nvSpPr>
        <p:spPr>
          <a:xfrm>
            <a:off x="523875" y="1362075"/>
            <a:ext cx="4000500" cy="571500"/>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hip-caps"/>
          <p:cNvSpPr txBox="1"/>
          <p:nvPr/>
        </p:nvSpPr>
        <p:spPr>
          <a:xfrm>
            <a:off x="523875" y="1362075"/>
            <a:ext cx="4000500" cy="571500"/>
          </a:xfrm>
          <a:prstGeom prst="rect">
            <a:avLst/>
          </a:prstGeom>
          <a:noFill/>
        </p:spPr>
        <p:txBody>
          <a:bodyPr wrap="square" anchor="ctr" lIns="0" rIns="0" tIns="0" bIns="0">
            <a:noAutofit/>
          </a:bodyPr>
          <a:lstStyle/>
          <a:p>
            <a:pPr algn="ctr">
              <a:lnSpc>
                <a:spcPts val="2550"/>
              </a:lnSpc>
            </a:pPr>
            <a:r>
              <a:rPr sz="2550" b="0" i="0" spc="75">
                <a:solidFill>
                  <a:srgbClr val="1A1A1A"/>
                </a:solidFill>
                <a:latin typeface="Work Sans"/>
              </a:rPr>
              <a:t>CPD SHORT COURSE</a:t>
            </a:r>
          </a:p>
        </p:txBody>
      </p:sp>
      <p:sp>
        <p:nvSpPr>
          <p:cNvPr id="6" name="title"/>
          <p:cNvSpPr txBox="1"/>
          <p:nvPr/>
        </p:nvSpPr>
        <p:spPr>
          <a:xfrm>
            <a:off x="381000" y="4143375"/>
            <a:ext cx="4667250" cy="2457707"/>
          </a:xfrm>
          <a:prstGeom prst="rect">
            <a:avLst/>
          </a:prstGeom>
          <a:noFill/>
        </p:spPr>
        <p:txBody>
          <a:bodyPr wrap="square" anchor="t" lIns="0" rIns="0" tIns="0" bIns="0">
            <a:noAutofit/>
          </a:bodyPr>
          <a:lstStyle/>
          <a:p>
            <a:pPr algn="l">
              <a:lnSpc>
                <a:spcPts val="6450"/>
              </a:lnSpc>
            </a:pPr>
            <a:r>
              <a:rPr sz="5775" b="0" i="0">
                <a:solidFill>
                  <a:srgbClr val="FFFFFF"/>
                </a:solidFill>
                <a:latin typeface="Larken Medium"/>
              </a:rPr>
              <a:t>TEST</a:t>
            </a:r>
          </a:p>
          <a:p>
            <a:pPr algn="l">
              <a:lnSpc>
                <a:spcPts val="6450"/>
              </a:lnSpc>
            </a:pPr>
            <a:r>
              <a:rPr sz="5775" b="0" i="0">
                <a:solidFill>
                  <a:srgbClr val="FFFFFF"/>
                </a:solidFill>
                <a:latin typeface="Larken Medium"/>
              </a:rPr>
              <a:t>From Breath</a:t>
            </a:r>
          </a:p>
          <a:p>
            <a:pPr algn="l">
              <a:lnSpc>
                <a:spcPts val="6450"/>
              </a:lnSpc>
            </a:pPr>
            <a:r>
              <a:rPr sz="5775" b="0" i="0">
                <a:solidFill>
                  <a:srgbClr val="FFFFFF"/>
                </a:solidFill>
                <a:latin typeface="Larken Medium"/>
              </a:rPr>
              <a:t>to Samādhi</a:t>
            </a:r>
          </a:p>
        </p:txBody>
      </p:sp>
      <p:pic>
        <p:nvPicPr>
          <p:cNvPr id="7" name="band" descr="_baked_band.png"/>
          <p:cNvPicPr>
            <a:picLocks noChangeAspect="1"/>
          </p:cNvPicPr>
          <p:nvPr/>
        </p:nvPicPr>
        <p:blipFill>
          <a:blip r:embed="rId3"/>
          <a:stretch>
            <a:fillRect/>
          </a:stretch>
        </p:blipFill>
        <p:spPr>
          <a:xfrm>
            <a:off x="0" y="7648575"/>
            <a:ext cx="10287000" cy="3648075"/>
          </a:xfrm>
          <a:prstGeom prst="rect">
            <a:avLst/>
          </a:prstGeom>
        </p:spPr>
      </p:pic>
      <p:sp>
        <p:nvSpPr>
          <p:cNvPr id="8" name="bio"/>
          <p:cNvSpPr txBox="1"/>
          <p:nvPr/>
        </p:nvSpPr>
        <p:spPr>
          <a:xfrm>
            <a:off x="542925" y="7924800"/>
            <a:ext cx="9239250" cy="2667000"/>
          </a:xfrm>
          <a:prstGeom prst="rect">
            <a:avLst/>
          </a:prstGeom>
          <a:noFill/>
        </p:spPr>
        <p:txBody>
          <a:bodyPr wrap="square" anchor="t" lIns="0" rIns="0" tIns="0" bIns="0">
            <a:noAutofit/>
          </a:bodyPr>
          <a:lstStyle/>
          <a:p>
            <a:pPr algn="l">
              <a:lnSpc>
                <a:spcPts val="3648"/>
              </a:lnSpc>
            </a:pPr>
            <a:r>
              <a:rPr sz="2850" b="1" i="0">
                <a:solidFill>
                  <a:srgbClr val="745766"/>
                </a:solidFill>
                <a:latin typeface="Work Sans"/>
              </a:rPr>
              <a:t>Josh Pryor</a:t>
            </a:r>
            <a:r>
              <a:rPr sz="2850" b="0" i="0">
                <a:solidFill>
                  <a:srgbClr val="745766"/>
                </a:solidFill>
                <a:latin typeface="Work Sans"/>
              </a:rPr>
              <a:t> is the CEO for Yoga Australia, a Mysore Style Yoga practitioner, author, studio-owner, and life-long student. </a:t>
            </a:r>
            <a:r>
              <a:rPr sz="2850" b="1" i="0">
                <a:solidFill>
                  <a:srgbClr val="745766"/>
                </a:solidFill>
                <a:latin typeface="Work Sans"/>
              </a:rPr>
              <a:t>Celia Roberts</a:t>
            </a:r>
            <a:r>
              <a:rPr sz="2850" b="0" i="0">
                <a:solidFill>
                  <a:srgbClr val="745766"/>
                </a:solidFill>
                <a:latin typeface="Work Sans"/>
              </a:rPr>
              <a:t> is a Senior yoga teacher and therapist, an award winning Mind-Body practitioner and among other qualifications, has a Bio-Medical Science degree.</a:t>
            </a:r>
          </a:p>
        </p:txBody>
      </p:sp>
      <p:sp>
        <p:nvSpPr>
          <p:cNvPr id="9" name="earn"/>
          <p:cNvSpPr txBox="1"/>
          <p:nvPr/>
        </p:nvSpPr>
        <p:spPr>
          <a:xfrm>
            <a:off x="542925" y="10782300"/>
            <a:ext cx="9239250" cy="495300"/>
          </a:xfrm>
          <a:prstGeom prst="rect">
            <a:avLst/>
          </a:prstGeom>
          <a:noFill/>
        </p:spPr>
        <p:txBody>
          <a:bodyPr wrap="square" anchor="t" lIns="0" rIns="0" tIns="0" bIns="0">
            <a:noAutofit/>
          </a:bodyPr>
          <a:lstStyle/>
          <a:p>
            <a:pPr algn="l">
              <a:lnSpc>
                <a:spcPts val="3300"/>
              </a:lnSpc>
            </a:pPr>
            <a:r>
              <a:rPr sz="3000" b="1" i="0">
                <a:solidFill>
                  <a:srgbClr val="745766"/>
                </a:solidFill>
                <a:latin typeface="Work Sans"/>
              </a:rPr>
              <a:t>Earn 1 CPD points on completion.</a:t>
            </a:r>
          </a:p>
        </p:txBody>
      </p:sp>
      <p:pic>
        <p:nvPicPr>
          <p:cNvPr id="10" name="lockup" descr="YA logo RGB white 800w.png"/>
          <p:cNvPicPr>
            <a:picLocks noChangeAspect="1"/>
          </p:cNvPicPr>
          <p:nvPr/>
        </p:nvPicPr>
        <p:blipFill>
          <a:blip r:embed="rId4"/>
          <a:stretch>
            <a:fillRect/>
          </a:stretch>
        </p:blipFill>
        <p:spPr>
          <a:xfrm>
            <a:off x="485775" y="11630025"/>
            <a:ext cx="2981325" cy="93166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round"/>
          <p:cNvSpPr/>
          <p:nvPr/>
        </p:nvSpPr>
        <p:spPr>
          <a:xfrm>
            <a:off x="0" y="0"/>
            <a:ext cx="10287000" cy="12858750"/>
          </a:xfrm>
          <a:prstGeom prst="rect">
            <a:avLst/>
          </a:prstGeom>
          <a:solidFill>
            <a:srgbClr val="E1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watermark-s2" descr="_baked_watermark-s2.png"/>
          <p:cNvPicPr>
            <a:picLocks noChangeAspect="1"/>
          </p:cNvPicPr>
          <p:nvPr/>
        </p:nvPicPr>
        <p:blipFill>
          <a:blip r:embed="rId2"/>
          <a:stretch>
            <a:fillRect/>
          </a:stretch>
        </p:blipFill>
        <p:spPr>
          <a:xfrm>
            <a:off x="0" y="0"/>
            <a:ext cx="10287000" cy="12858750"/>
          </a:xfrm>
          <a:prstGeom prst="rect">
            <a:avLst/>
          </a:prstGeom>
        </p:spPr>
      </p:pic>
      <p:sp>
        <p:nvSpPr>
          <p:cNvPr id="4" name="para"/>
          <p:cNvSpPr txBox="1"/>
          <p:nvPr/>
        </p:nvSpPr>
        <p:spPr>
          <a:xfrm>
            <a:off x="1314450" y="4105275"/>
            <a:ext cx="8001000" cy="5905500"/>
          </a:xfrm>
          <a:prstGeom prst="rect">
            <a:avLst/>
          </a:prstGeom>
          <a:noFill/>
        </p:spPr>
        <p:txBody>
          <a:bodyPr wrap="square" anchor="t" lIns="0" rIns="0" tIns="0" bIns="0">
            <a:noAutofit/>
          </a:bodyPr>
          <a:lstStyle/>
          <a:p>
            <a:pPr algn="l">
              <a:lnSpc>
                <a:spcPts val="5263"/>
              </a:lnSpc>
            </a:pPr>
            <a:r>
              <a:rPr sz="4350" b="0" i="0">
                <a:solidFill>
                  <a:srgbClr val="745766"/>
                </a:solidFill>
                <a:latin typeface="Larken Regular"/>
              </a:rPr>
              <a:t>An exciting course on the metaphysics of pranayama, exposing the quintessential pivot of yoga, the doctrine of expansion beyond the skull. Yogic breathwork stretches us further than physical, to the uncanny and tranquil state of </a:t>
            </a:r>
            <a:r>
              <a:rPr sz="4350" b="0" i="1">
                <a:solidFill>
                  <a:srgbClr val="745766"/>
                </a:solidFill>
                <a:latin typeface="Larken Regular"/>
              </a:rPr>
              <a:t>samādhi</a:t>
            </a:r>
            <a:r>
              <a:rPr sz="4350" b="0" i="0">
                <a:solidFill>
                  <a:srgbClr val="745766"/>
                </a:solidFill>
                <a:latin typeface="Larken Regular"/>
              </a:rPr>
              <a:t>.</a:t>
            </a:r>
          </a:p>
        </p:txBody>
      </p:sp>
      <p:pic>
        <p:nvPicPr>
          <p:cNvPr id="5" name="lockup" descr="YA logo RGB 800w.png"/>
          <p:cNvPicPr>
            <a:picLocks noChangeAspect="1"/>
          </p:cNvPicPr>
          <p:nvPr/>
        </p:nvPicPr>
        <p:blipFill>
          <a:blip r:embed="rId3"/>
          <a:stretch>
            <a:fillRect/>
          </a:stretch>
        </p:blipFill>
        <p:spPr>
          <a:xfrm>
            <a:off x="3729038" y="11534775"/>
            <a:ext cx="2828925" cy="88403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round"/>
          <p:cNvSpPr/>
          <p:nvPr/>
        </p:nvSpPr>
        <p:spPr>
          <a:xfrm>
            <a:off x="0" y="0"/>
            <a:ext cx="10287000" cy="12858750"/>
          </a:xfrm>
          <a:prstGeom prst="rect">
            <a:avLst/>
          </a:prstGeom>
          <a:solidFill>
            <a:srgbClr val="E1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watermark-s3" descr="_baked_watermark-s3.png"/>
          <p:cNvPicPr>
            <a:picLocks noChangeAspect="1"/>
          </p:cNvPicPr>
          <p:nvPr/>
        </p:nvPicPr>
        <p:blipFill>
          <a:blip r:embed="rId2"/>
          <a:stretch>
            <a:fillRect/>
          </a:stretch>
        </p:blipFill>
        <p:spPr>
          <a:xfrm>
            <a:off x="0" y="0"/>
            <a:ext cx="10287000" cy="12858750"/>
          </a:xfrm>
          <a:prstGeom prst="rect">
            <a:avLst/>
          </a:prstGeom>
        </p:spPr>
      </p:pic>
      <p:sp>
        <p:nvSpPr>
          <p:cNvPr id="4" name="para"/>
          <p:cNvSpPr txBox="1"/>
          <p:nvPr/>
        </p:nvSpPr>
        <p:spPr>
          <a:xfrm>
            <a:off x="1314450" y="3648075"/>
            <a:ext cx="8001000" cy="5905500"/>
          </a:xfrm>
          <a:prstGeom prst="rect">
            <a:avLst/>
          </a:prstGeom>
          <a:noFill/>
        </p:spPr>
        <p:txBody>
          <a:bodyPr wrap="square" anchor="t" lIns="0" rIns="0" tIns="0" bIns="0">
            <a:noAutofit/>
          </a:bodyPr>
          <a:lstStyle/>
          <a:p>
            <a:pPr algn="l">
              <a:lnSpc>
                <a:spcPts val="5263"/>
              </a:lnSpc>
            </a:pPr>
            <a:r>
              <a:rPr sz="4350" b="0" i="0">
                <a:solidFill>
                  <a:srgbClr val="745766"/>
                </a:solidFill>
                <a:latin typeface="Larken Regular"/>
              </a:rPr>
              <a:t>Be sure to log in to your Yoga Australia member dashboard to explore the range of CPD short courses available and receive access to exclusive discounts and free courses.</a:t>
            </a:r>
          </a:p>
        </p:txBody>
      </p:sp>
      <p:sp>
        <p:nvSpPr>
          <p:cNvPr id="5" name="access"/>
          <p:cNvSpPr txBox="1"/>
          <p:nvPr/>
        </p:nvSpPr>
        <p:spPr>
          <a:xfrm>
            <a:off x="1314450" y="8877300"/>
            <a:ext cx="8572500" cy="495300"/>
          </a:xfrm>
          <a:prstGeom prst="rect">
            <a:avLst/>
          </a:prstGeom>
          <a:noFill/>
        </p:spPr>
        <p:txBody>
          <a:bodyPr wrap="square" anchor="t" lIns="0" rIns="0" tIns="0" bIns="0">
            <a:noAutofit/>
          </a:bodyPr>
          <a:lstStyle/>
          <a:p>
            <a:pPr algn="l">
              <a:lnSpc>
                <a:spcPts val="3300"/>
              </a:lnSpc>
            </a:pPr>
            <a:r>
              <a:rPr sz="3000" b="0" i="0">
                <a:solidFill>
                  <a:srgbClr val="745766"/>
                </a:solidFill>
                <a:latin typeface="Work Sans"/>
              </a:rPr>
              <a:t>Access the course at yogaaustralia.org.au</a:t>
            </a:r>
          </a:p>
        </p:txBody>
      </p:sp>
      <p:sp>
        <p:nvSpPr>
          <p:cNvPr id="6" name="link"/>
          <p:cNvSpPr txBox="1"/>
          <p:nvPr/>
        </p:nvSpPr>
        <p:spPr>
          <a:xfrm>
            <a:off x="1314450" y="9324975"/>
            <a:ext cx="2857500" cy="495300"/>
          </a:xfrm>
          <a:prstGeom prst="rect">
            <a:avLst/>
          </a:prstGeom>
          <a:noFill/>
        </p:spPr>
        <p:txBody>
          <a:bodyPr wrap="square" anchor="t" lIns="0" rIns="0" tIns="0" bIns="0">
            <a:noAutofit/>
          </a:bodyPr>
          <a:lstStyle/>
          <a:p>
            <a:pPr algn="l">
              <a:lnSpc>
                <a:spcPts val="3300"/>
              </a:lnSpc>
            </a:pPr>
            <a:r>
              <a:rPr sz="3000" b="0" i="0">
                <a:solidFill>
                  <a:srgbClr val="745766"/>
                </a:solidFill>
                <a:latin typeface="Work Sans"/>
              </a:rPr>
              <a:t>Link in bio</a:t>
            </a:r>
          </a:p>
        </p:txBody>
      </p:sp>
      <p:sp>
        <p:nvSpPr>
          <p:cNvPr id="7" name="chevron-disc"/>
          <p:cNvSpPr/>
          <p:nvPr/>
        </p:nvSpPr>
        <p:spPr>
          <a:xfrm>
            <a:off x="3429000" y="9410700"/>
            <a:ext cx="495300" cy="495300"/>
          </a:xfrm>
          <a:prstGeom prst="ellipse">
            <a:avLst/>
          </a:prstGeom>
          <a:solidFill>
            <a:srgbClr val="7457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p:cNvSpPr txBox="1"/>
          <p:nvPr/>
        </p:nvSpPr>
        <p:spPr>
          <a:xfrm>
            <a:off x="3486150" y="9410700"/>
            <a:ext cx="381000" cy="495300"/>
          </a:xfrm>
          <a:prstGeom prst="rect">
            <a:avLst/>
          </a:prstGeom>
          <a:noFill/>
        </p:spPr>
        <p:txBody>
          <a:bodyPr wrap="square" anchor="ctr" lIns="0" rIns="0" tIns="0" bIns="0">
            <a:noAutofit/>
          </a:bodyPr>
          <a:lstStyle/>
          <a:p>
            <a:pPr algn="ctr">
              <a:lnSpc>
                <a:spcPts val="3000"/>
              </a:lnSpc>
            </a:pPr>
            <a:r>
              <a:rPr sz="3000" b="1" i="0">
                <a:solidFill>
                  <a:srgbClr val="FFFFFF"/>
                </a:solidFill>
                <a:latin typeface="Work Sans"/>
              </a:rPr>
              <a:t>›</a:t>
            </a:r>
          </a:p>
        </p:txBody>
      </p:sp>
      <p:pic>
        <p:nvPicPr>
          <p:cNvPr id="9" name="lockup" descr="YA logo RGB 800w.png"/>
          <p:cNvPicPr>
            <a:picLocks noChangeAspect="1"/>
          </p:cNvPicPr>
          <p:nvPr/>
        </p:nvPicPr>
        <p:blipFill>
          <a:blip r:embed="rId3"/>
          <a:stretch>
            <a:fillRect/>
          </a:stretch>
        </p:blipFill>
        <p:spPr>
          <a:xfrm>
            <a:off x="3729038" y="11534775"/>
            <a:ext cx="2828925" cy="88403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