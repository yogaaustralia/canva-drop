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0276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1-logo-disc"/>
          <p:cNvSpPr/>
          <p:nvPr/>
        </p:nvSpPr>
        <p:spPr>
          <a:xfrm>
            <a:off x="581025" y="1033462"/>
            <a:ext cx="3181350" cy="31813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1-initials"/>
          <p:cNvSpPr txBox="1"/>
          <p:nvPr/>
        </p:nvSpPr>
        <p:spPr>
          <a:xfrm>
            <a:off x="581025" y="1033462"/>
            <a:ext cx="3181350" cy="3181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9000"/>
              </a:lnSpc>
            </a:pPr>
            <a:r>
              <a:rPr sz="9000" b="1" i="0">
                <a:solidFill>
                  <a:srgbClr val="0276BA"/>
                </a:solidFill>
                <a:latin typeface="Work Sans"/>
              </a:rPr>
              <a:t>GSA</a:t>
            </a:r>
          </a:p>
        </p:txBody>
      </p:sp>
      <p:sp>
        <p:nvSpPr>
          <p:cNvPr id="5" name="p1-heading"/>
          <p:cNvSpPr txBox="1"/>
          <p:nvPr/>
        </p:nvSpPr>
        <p:spPr>
          <a:xfrm>
            <a:off x="4333875" y="1057275"/>
            <a:ext cx="5572125" cy="4371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TEST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Insurance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FFFFFF"/>
                </a:solidFill>
                <a:latin typeface="Work Sans"/>
              </a:rPr>
              <a:t>Brokers</a:t>
            </a:r>
          </a:p>
        </p:txBody>
      </p:sp>
      <p:sp>
        <p:nvSpPr>
          <p:cNvPr id="6" name="p1-body"/>
          <p:cNvSpPr txBox="1"/>
          <p:nvPr/>
        </p:nvSpPr>
        <p:spPr>
          <a:xfrm>
            <a:off x="952500" y="6000750"/>
            <a:ext cx="8382000" cy="7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7137"/>
              </a:lnSpc>
            </a:pPr>
            <a:r>
              <a:rPr sz="5850" b="0" i="0">
                <a:solidFill>
                  <a:srgbClr val="FFFFFF"/>
                </a:solidFill>
                <a:latin typeface="Work Sans"/>
              </a:rPr>
              <a:t>At Yoga Australia we use GSA insurance brokers because their insurance policy for yoga teachers covers staff and volunteers as part of the main teacher’s policy.</a:t>
            </a:r>
          </a:p>
        </p:txBody>
      </p:sp>
      <p:sp>
        <p:nvSpPr>
          <p:cNvPr id="7" name="p1-button"/>
          <p:cNvSpPr/>
          <p:nvPr/>
        </p:nvSpPr>
        <p:spPr>
          <a:xfrm>
            <a:off x="3181350" y="14077950"/>
            <a:ext cx="3810000" cy="819150"/>
          </a:xfrm>
          <a:prstGeom prst="roundRect">
            <a:avLst>
              <a:gd name="adj" fmla="val 50000"/>
            </a:avLst>
          </a:prstGeom>
          <a:noFill/>
          <a:ln w="476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1-button-label"/>
          <p:cNvSpPr txBox="1"/>
          <p:nvPr/>
        </p:nvSpPr>
        <p:spPr>
          <a:xfrm>
            <a:off x="3181350" y="14077950"/>
            <a:ext cx="3810000" cy="8191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3000"/>
              </a:lnSpc>
            </a:pPr>
            <a:r>
              <a:rPr sz="3000" b="0" i="0" spc="150">
                <a:solidFill>
                  <a:srgbClr val="FFFFFF"/>
                </a:solidFill>
                <a:latin typeface="Work Sans"/>
              </a:rPr>
              <a:t>LEARN MORE</a:t>
            </a:r>
          </a:p>
        </p:txBody>
      </p:sp>
      <p:pic>
        <p:nvPicPr>
          <p:cNvPr id="9" name="p1-cursor" descr="_baked_p1-cur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4192250"/>
            <a:ext cx="857250" cy="952500"/>
          </a:xfrm>
          <a:prstGeom prst="rect">
            <a:avLst/>
          </a:prstGeom>
        </p:spPr>
      </p:pic>
      <p:pic>
        <p:nvPicPr>
          <p:cNvPr id="10" name="p1-lockup" descr="_baked_p1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8" y="16602075"/>
            <a:ext cx="4238625" cy="13245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F6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2-logo-disc"/>
          <p:cNvSpPr/>
          <p:nvPr/>
        </p:nvSpPr>
        <p:spPr>
          <a:xfrm>
            <a:off x="581025" y="1033462"/>
            <a:ext cx="3181350" cy="3181350"/>
          </a:xfrm>
          <a:prstGeom prst="ellipse">
            <a:avLst/>
          </a:prstGeom>
          <a:solidFill>
            <a:srgbClr val="006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2-initials"/>
          <p:cNvSpPr txBox="1"/>
          <p:nvPr/>
        </p:nvSpPr>
        <p:spPr>
          <a:xfrm>
            <a:off x="581025" y="1033462"/>
            <a:ext cx="3181350" cy="3181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9000"/>
              </a:lnSpc>
            </a:pPr>
            <a:r>
              <a:rPr sz="9000" b="1" i="0">
                <a:solidFill>
                  <a:srgbClr val="F6F7F2"/>
                </a:solidFill>
                <a:latin typeface="Work Sans"/>
              </a:rPr>
              <a:t>P</a:t>
            </a:r>
          </a:p>
        </p:txBody>
      </p:sp>
      <p:sp>
        <p:nvSpPr>
          <p:cNvPr id="5" name="p2-heading"/>
          <p:cNvSpPr txBox="1"/>
          <p:nvPr/>
        </p:nvSpPr>
        <p:spPr>
          <a:xfrm>
            <a:off x="4333875" y="1057275"/>
            <a:ext cx="5572125" cy="121443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9562"/>
              </a:lnSpc>
            </a:pPr>
            <a:r>
              <a:rPr sz="7500" b="1" i="0">
                <a:solidFill>
                  <a:srgbClr val="00636A"/>
                </a:solidFill>
                <a:latin typeface="Work Sans"/>
              </a:rPr>
              <a:t>Punchpass</a:t>
            </a:r>
          </a:p>
        </p:txBody>
      </p:sp>
      <p:sp>
        <p:nvSpPr>
          <p:cNvPr id="6" name="p2-body"/>
          <p:cNvSpPr txBox="1"/>
          <p:nvPr/>
        </p:nvSpPr>
        <p:spPr>
          <a:xfrm>
            <a:off x="952500" y="6000750"/>
            <a:ext cx="8382000" cy="7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7137"/>
              </a:lnSpc>
            </a:pPr>
            <a:r>
              <a:rPr sz="5850" b="0" i="0">
                <a:solidFill>
                  <a:srgbClr val="00636A"/>
                </a:solidFill>
                <a:latin typeface="Work Sans"/>
              </a:rPr>
              <a:t>At Yoga Australia we recommend Punchpass for affordable yoga studio management software with support staff based in Australia.</a:t>
            </a:r>
          </a:p>
        </p:txBody>
      </p:sp>
      <p:sp>
        <p:nvSpPr>
          <p:cNvPr id="7" name="p2-button"/>
          <p:cNvSpPr/>
          <p:nvPr/>
        </p:nvSpPr>
        <p:spPr>
          <a:xfrm>
            <a:off x="3181350" y="14077950"/>
            <a:ext cx="3810000" cy="819150"/>
          </a:xfrm>
          <a:prstGeom prst="roundRect">
            <a:avLst>
              <a:gd name="adj" fmla="val 50000"/>
            </a:avLst>
          </a:prstGeom>
          <a:noFill/>
          <a:ln w="47625">
            <a:solidFill>
              <a:srgbClr val="0063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2-button-label"/>
          <p:cNvSpPr txBox="1"/>
          <p:nvPr/>
        </p:nvSpPr>
        <p:spPr>
          <a:xfrm>
            <a:off x="3181350" y="14077950"/>
            <a:ext cx="3810000" cy="8191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3000"/>
              </a:lnSpc>
            </a:pPr>
            <a:r>
              <a:rPr sz="3000" b="0" i="0" spc="150">
                <a:solidFill>
                  <a:srgbClr val="00636A"/>
                </a:solidFill>
                <a:latin typeface="Work Sans"/>
              </a:rPr>
              <a:t>LEARN MORE</a:t>
            </a:r>
          </a:p>
        </p:txBody>
      </p:sp>
      <p:pic>
        <p:nvPicPr>
          <p:cNvPr id="9" name="p2-cursor" descr="_baked_p2-cur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4192250"/>
            <a:ext cx="857250" cy="952500"/>
          </a:xfrm>
          <a:prstGeom prst="rect">
            <a:avLst/>
          </a:prstGeom>
        </p:spPr>
      </p:pic>
      <p:pic>
        <p:nvPicPr>
          <p:cNvPr id="10" name="p2-lockup" descr="_baked_p2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8" y="16602075"/>
            <a:ext cx="4238625" cy="13245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round"/>
          <p:cNvSpPr/>
          <p:nvPr/>
        </p:nvSpPr>
        <p:spPr>
          <a:xfrm>
            <a:off x="0" y="0"/>
            <a:ext cx="10287000" cy="18288000"/>
          </a:xfrm>
          <a:prstGeom prst="rect">
            <a:avLst/>
          </a:prstGeom>
          <a:solidFill>
            <a:srgbClr val="DAB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3-logo-disc"/>
          <p:cNvSpPr/>
          <p:nvPr/>
        </p:nvSpPr>
        <p:spPr>
          <a:xfrm>
            <a:off x="581025" y="1033462"/>
            <a:ext cx="3181350" cy="318135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3-initials"/>
          <p:cNvSpPr txBox="1"/>
          <p:nvPr/>
        </p:nvSpPr>
        <p:spPr>
          <a:xfrm>
            <a:off x="581025" y="1033462"/>
            <a:ext cx="3181350" cy="31813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9000"/>
              </a:lnSpc>
            </a:pPr>
            <a:r>
              <a:rPr sz="9000" b="1" i="0">
                <a:solidFill>
                  <a:srgbClr val="DABFB6"/>
                </a:solidFill>
                <a:latin typeface="Work Sans"/>
              </a:rPr>
              <a:t>SL</a:t>
            </a:r>
          </a:p>
        </p:txBody>
      </p:sp>
      <p:sp>
        <p:nvSpPr>
          <p:cNvPr id="5" name="p3-heading"/>
          <p:cNvSpPr txBox="1"/>
          <p:nvPr/>
        </p:nvSpPr>
        <p:spPr>
          <a:xfrm>
            <a:off x="4333875" y="1057275"/>
            <a:ext cx="5572125" cy="29146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000000"/>
                </a:solidFill>
                <a:latin typeface="Work Sans"/>
              </a:rPr>
              <a:t>Studio</a:t>
            </a:r>
          </a:p>
          <a:p>
            <a:pPr algn="l">
              <a:lnSpc>
                <a:spcPts val="11475"/>
              </a:lnSpc>
            </a:pPr>
            <a:r>
              <a:rPr sz="9000" b="1" i="0">
                <a:solidFill>
                  <a:srgbClr val="000000"/>
                </a:solidFill>
                <a:latin typeface="Work Sans"/>
              </a:rPr>
              <a:t>Legal</a:t>
            </a:r>
          </a:p>
        </p:txBody>
      </p:sp>
      <p:sp>
        <p:nvSpPr>
          <p:cNvPr id="6" name="p3-body"/>
          <p:cNvSpPr txBox="1"/>
          <p:nvPr/>
        </p:nvSpPr>
        <p:spPr>
          <a:xfrm>
            <a:off x="952500" y="6000750"/>
            <a:ext cx="8382000" cy="762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7137"/>
              </a:lnSpc>
            </a:pPr>
            <a:r>
              <a:rPr sz="5850" b="0" i="0">
                <a:solidFill>
                  <a:srgbClr val="000000"/>
                </a:solidFill>
                <a:latin typeface="Work Sans"/>
              </a:rPr>
              <a:t>For all your legal needs Yoga Australia recommends Studio Legal. A boutique law firm with a suite of templates and policies designed specifically for yoga teachers.</a:t>
            </a:r>
          </a:p>
        </p:txBody>
      </p:sp>
      <p:sp>
        <p:nvSpPr>
          <p:cNvPr id="7" name="p3-button"/>
          <p:cNvSpPr/>
          <p:nvPr/>
        </p:nvSpPr>
        <p:spPr>
          <a:xfrm>
            <a:off x="3181350" y="14077950"/>
            <a:ext cx="3810000" cy="819150"/>
          </a:xfrm>
          <a:prstGeom prst="roundRect">
            <a:avLst>
              <a:gd name="adj" fmla="val 50000"/>
            </a:avLst>
          </a:prstGeom>
          <a:noFill/>
          <a:ln w="476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3-button-label"/>
          <p:cNvSpPr txBox="1"/>
          <p:nvPr/>
        </p:nvSpPr>
        <p:spPr>
          <a:xfrm>
            <a:off x="3181350" y="14077950"/>
            <a:ext cx="3810000" cy="819150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>
              <a:lnSpc>
                <a:spcPts val="3000"/>
              </a:lnSpc>
            </a:pPr>
            <a:r>
              <a:rPr sz="3000" b="0" i="0" spc="150">
                <a:solidFill>
                  <a:srgbClr val="000000"/>
                </a:solidFill>
                <a:latin typeface="Work Sans"/>
              </a:rPr>
              <a:t>LEARN MORE</a:t>
            </a:r>
          </a:p>
        </p:txBody>
      </p:sp>
      <p:pic>
        <p:nvPicPr>
          <p:cNvPr id="9" name="p3-cursor" descr="_baked_p3-curs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14192250"/>
            <a:ext cx="857250" cy="952500"/>
          </a:xfrm>
          <a:prstGeom prst="rect">
            <a:avLst/>
          </a:prstGeom>
        </p:spPr>
      </p:pic>
      <p:pic>
        <p:nvPicPr>
          <p:cNvPr id="10" name="p3-lockup" descr="_baked_p3-l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188" y="16602075"/>
            <a:ext cx="4238625" cy="13245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