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27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-logo-disc"/>
          <p:cNvSpPr/>
          <p:nvPr/>
        </p:nvSpPr>
        <p:spPr>
          <a:xfrm>
            <a:off x="581025" y="1033462"/>
            <a:ext cx="3181350" cy="3181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-initials"/>
          <p:cNvSpPr txBox="1"/>
          <p:nvPr/>
        </p:nvSpPr>
        <p:spPr>
          <a:xfrm>
            <a:off x="581025" y="1033462"/>
            <a:ext cx="3181350" cy="31813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9000"/>
              </a:lnSpc>
            </a:pPr>
            <a:r>
              <a:rPr sz="9000" b="1" i="0">
                <a:solidFill>
                  <a:srgbClr val="0276BA"/>
                </a:solidFill>
                <a:latin typeface="Work Sans"/>
              </a:rPr>
              <a:t>GSA</a:t>
            </a:r>
          </a:p>
        </p:txBody>
      </p:sp>
      <p:sp>
        <p:nvSpPr>
          <p:cNvPr id="5" name="cover-heading"/>
          <p:cNvSpPr txBox="1"/>
          <p:nvPr/>
        </p:nvSpPr>
        <p:spPr>
          <a:xfrm>
            <a:off x="4333875" y="1057275"/>
            <a:ext cx="5572125" cy="4371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TEST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Insurance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Brokers</a:t>
            </a:r>
          </a:p>
        </p:txBody>
      </p:sp>
      <p:sp>
        <p:nvSpPr>
          <p:cNvPr id="6" name="question"/>
          <p:cNvSpPr txBox="1"/>
          <p:nvPr/>
        </p:nvSpPr>
        <p:spPr>
          <a:xfrm>
            <a:off x="1047750" y="6334125"/>
            <a:ext cx="8382000" cy="3048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7195"/>
              </a:lnSpc>
            </a:pPr>
            <a:r>
              <a:rPr sz="5850" b="1" i="0">
                <a:solidFill>
                  <a:srgbClr val="FFFFFF"/>
                </a:solidFill>
                <a:latin typeface="Work Sans"/>
              </a:rPr>
              <a:t>Looking for insurance that truly understands yoga teachers?</a:t>
            </a:r>
          </a:p>
        </p:txBody>
      </p:sp>
      <p:sp>
        <p:nvSpPr>
          <p:cNvPr id="7" name="statement"/>
          <p:cNvSpPr txBox="1"/>
          <p:nvPr/>
        </p:nvSpPr>
        <p:spPr>
          <a:xfrm>
            <a:off x="1047750" y="9696450"/>
            <a:ext cx="8763000" cy="2095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6405"/>
              </a:lnSpc>
            </a:pPr>
            <a:r>
              <a:rPr sz="5250" b="0" i="0">
                <a:solidFill>
                  <a:srgbClr val="FFFFFF"/>
                </a:solidFill>
                <a:latin typeface="Work Sans"/>
              </a:rPr>
              <a:t>At Yoga Australia we use GSA Insurance Brokers</a:t>
            </a:r>
          </a:p>
        </p:txBody>
      </p:sp>
      <p:sp>
        <p:nvSpPr>
          <p:cNvPr id="8" name="why"/>
          <p:cNvSpPr txBox="1"/>
          <p:nvPr/>
        </p:nvSpPr>
        <p:spPr>
          <a:xfrm>
            <a:off x="1047750" y="12192000"/>
            <a:ext cx="4381500" cy="9658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7019"/>
              </a:lnSpc>
            </a:pPr>
            <a:r>
              <a:rPr sz="5850" b="0" i="0">
                <a:solidFill>
                  <a:srgbClr val="FFFFFF"/>
                </a:solidFill>
                <a:latin typeface="Work Sans"/>
              </a:rPr>
              <a:t>Here’s Why</a:t>
            </a:r>
          </a:p>
        </p:txBody>
      </p:sp>
      <p:pic>
        <p:nvPicPr>
          <p:cNvPr id="9" name="arrow" descr="_baked_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825" y="12382500"/>
            <a:ext cx="2819400" cy="571500"/>
          </a:xfrm>
          <a:prstGeom prst="rect">
            <a:avLst/>
          </a:prstGeom>
        </p:spPr>
      </p:pic>
      <p:pic>
        <p:nvPicPr>
          <p:cNvPr id="10" name="cover-lockup" descr="_baked_cover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88" y="16602075"/>
            <a:ext cx="4238625" cy="1324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27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ck1-logo-disc"/>
          <p:cNvSpPr/>
          <p:nvPr/>
        </p:nvSpPr>
        <p:spPr>
          <a:xfrm>
            <a:off x="581025" y="1033462"/>
            <a:ext cx="3181350" cy="3181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ck1-initials"/>
          <p:cNvSpPr txBox="1"/>
          <p:nvPr/>
        </p:nvSpPr>
        <p:spPr>
          <a:xfrm>
            <a:off x="581025" y="1033462"/>
            <a:ext cx="3181350" cy="31813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9000"/>
              </a:lnSpc>
            </a:pPr>
            <a:r>
              <a:rPr sz="9000" b="1" i="0">
                <a:solidFill>
                  <a:srgbClr val="0276BA"/>
                </a:solidFill>
                <a:latin typeface="Work Sans"/>
              </a:rPr>
              <a:t>GSA</a:t>
            </a:r>
          </a:p>
        </p:txBody>
      </p:sp>
      <p:sp>
        <p:nvSpPr>
          <p:cNvPr id="5" name="check1-heading"/>
          <p:cNvSpPr txBox="1"/>
          <p:nvPr/>
        </p:nvSpPr>
        <p:spPr>
          <a:xfrm>
            <a:off x="4333875" y="1057275"/>
            <a:ext cx="5572125" cy="4371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TEST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Insurance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Brokers</a:t>
            </a:r>
          </a:p>
        </p:txBody>
      </p:sp>
      <p:pic>
        <p:nvPicPr>
          <p:cNvPr id="6" name="check1-tick-1" descr="_baked_check1-tick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6400800"/>
            <a:ext cx="1047750" cy="923925"/>
          </a:xfrm>
          <a:prstGeom prst="rect">
            <a:avLst/>
          </a:prstGeom>
        </p:spPr>
      </p:pic>
      <p:sp>
        <p:nvSpPr>
          <p:cNvPr id="7" name="check1-item-1"/>
          <p:cNvSpPr txBox="1"/>
          <p:nvPr/>
        </p:nvSpPr>
        <p:spPr>
          <a:xfrm>
            <a:off x="1571625" y="6334125"/>
            <a:ext cx="8001000" cy="285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7195"/>
              </a:lnSpc>
            </a:pPr>
            <a:r>
              <a:rPr sz="5850" b="0" i="0">
                <a:solidFill>
                  <a:srgbClr val="FFFFFF"/>
                </a:solidFill>
                <a:latin typeface="Work Sans"/>
              </a:rPr>
              <a:t>Staff and volunteers covered under the main teacher’s policy.</a:t>
            </a:r>
          </a:p>
        </p:txBody>
      </p:sp>
      <p:pic>
        <p:nvPicPr>
          <p:cNvPr id="8" name="check1-tick-2" descr="_baked_check1-tick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0096500"/>
            <a:ext cx="1047750" cy="923925"/>
          </a:xfrm>
          <a:prstGeom prst="rect">
            <a:avLst/>
          </a:prstGeom>
        </p:spPr>
      </p:pic>
      <p:sp>
        <p:nvSpPr>
          <p:cNvPr id="9" name="check1-item-2"/>
          <p:cNvSpPr txBox="1"/>
          <p:nvPr/>
        </p:nvSpPr>
        <p:spPr>
          <a:xfrm>
            <a:off x="1571625" y="10029825"/>
            <a:ext cx="8001000" cy="285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7195"/>
              </a:lnSpc>
            </a:pPr>
            <a:r>
              <a:rPr sz="5850" b="0" i="0">
                <a:solidFill>
                  <a:srgbClr val="FFFFFF"/>
                </a:solidFill>
                <a:latin typeface="Work Sans"/>
              </a:rPr>
              <a:t>Protection for both in-person, hybrid, and online teaching.</a:t>
            </a:r>
          </a:p>
        </p:txBody>
      </p:sp>
      <p:pic>
        <p:nvPicPr>
          <p:cNvPr id="10" name="check1-lockup" descr="_baked_cover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88" y="16602075"/>
            <a:ext cx="4238625" cy="1324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27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ck2-logo-disc"/>
          <p:cNvSpPr/>
          <p:nvPr/>
        </p:nvSpPr>
        <p:spPr>
          <a:xfrm>
            <a:off x="581025" y="1033462"/>
            <a:ext cx="3181350" cy="3181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ck2-initials"/>
          <p:cNvSpPr txBox="1"/>
          <p:nvPr/>
        </p:nvSpPr>
        <p:spPr>
          <a:xfrm>
            <a:off x="581025" y="1033462"/>
            <a:ext cx="3181350" cy="31813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9000"/>
              </a:lnSpc>
            </a:pPr>
            <a:r>
              <a:rPr sz="9000" b="1" i="0">
                <a:solidFill>
                  <a:srgbClr val="0276BA"/>
                </a:solidFill>
                <a:latin typeface="Work Sans"/>
              </a:rPr>
              <a:t>GSA</a:t>
            </a:r>
          </a:p>
        </p:txBody>
      </p:sp>
      <p:sp>
        <p:nvSpPr>
          <p:cNvPr id="5" name="check2-heading"/>
          <p:cNvSpPr txBox="1"/>
          <p:nvPr/>
        </p:nvSpPr>
        <p:spPr>
          <a:xfrm>
            <a:off x="4333875" y="1057275"/>
            <a:ext cx="5572125" cy="4371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TEST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Insurance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Brokers</a:t>
            </a:r>
          </a:p>
        </p:txBody>
      </p:sp>
      <p:pic>
        <p:nvPicPr>
          <p:cNvPr id="6" name="check2-tick-1" descr="_baked_check1-tick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6400800"/>
            <a:ext cx="1047750" cy="923925"/>
          </a:xfrm>
          <a:prstGeom prst="rect">
            <a:avLst/>
          </a:prstGeom>
        </p:spPr>
      </p:pic>
      <p:sp>
        <p:nvSpPr>
          <p:cNvPr id="7" name="check2-item-1"/>
          <p:cNvSpPr txBox="1"/>
          <p:nvPr/>
        </p:nvSpPr>
        <p:spPr>
          <a:xfrm>
            <a:off x="1571625" y="6334125"/>
            <a:ext cx="8001000" cy="285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7195"/>
              </a:lnSpc>
            </a:pPr>
            <a:r>
              <a:rPr sz="5850" b="0" i="0">
                <a:solidFill>
                  <a:srgbClr val="FFFFFF"/>
                </a:solidFill>
                <a:latin typeface="Work Sans"/>
              </a:rPr>
              <a:t>Among the most affordable options on the market.</a:t>
            </a:r>
          </a:p>
        </p:txBody>
      </p:sp>
      <p:pic>
        <p:nvPicPr>
          <p:cNvPr id="8" name="check2-tick-2" descr="_baked_check1-tick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0096500"/>
            <a:ext cx="1047750" cy="923925"/>
          </a:xfrm>
          <a:prstGeom prst="rect">
            <a:avLst/>
          </a:prstGeom>
        </p:spPr>
      </p:pic>
      <p:sp>
        <p:nvSpPr>
          <p:cNvPr id="9" name="check2-item-2"/>
          <p:cNvSpPr txBox="1"/>
          <p:nvPr/>
        </p:nvSpPr>
        <p:spPr>
          <a:xfrm>
            <a:off x="1571625" y="10029825"/>
            <a:ext cx="8001000" cy="285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7195"/>
              </a:lnSpc>
            </a:pPr>
            <a:r>
              <a:rPr sz="5850" b="0" i="0">
                <a:solidFill>
                  <a:srgbClr val="FFFFFF"/>
                </a:solidFill>
                <a:latin typeface="Work Sans"/>
              </a:rPr>
              <a:t>Coverage for retreats, both within Australia and overseas.</a:t>
            </a:r>
          </a:p>
        </p:txBody>
      </p:sp>
      <p:pic>
        <p:nvPicPr>
          <p:cNvPr id="10" name="check2-lockup" descr="_baked_cover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88" y="16602075"/>
            <a:ext cx="4238625" cy="1324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27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ck3-logo-disc"/>
          <p:cNvSpPr/>
          <p:nvPr/>
        </p:nvSpPr>
        <p:spPr>
          <a:xfrm>
            <a:off x="581025" y="1033462"/>
            <a:ext cx="3181350" cy="3181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eck3-initials"/>
          <p:cNvSpPr txBox="1"/>
          <p:nvPr/>
        </p:nvSpPr>
        <p:spPr>
          <a:xfrm>
            <a:off x="581025" y="1033462"/>
            <a:ext cx="3181350" cy="31813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9000"/>
              </a:lnSpc>
            </a:pPr>
            <a:r>
              <a:rPr sz="9000" b="1" i="0">
                <a:solidFill>
                  <a:srgbClr val="0276BA"/>
                </a:solidFill>
                <a:latin typeface="Work Sans"/>
              </a:rPr>
              <a:t>GSA</a:t>
            </a:r>
          </a:p>
        </p:txBody>
      </p:sp>
      <p:sp>
        <p:nvSpPr>
          <p:cNvPr id="5" name="check3-heading"/>
          <p:cNvSpPr txBox="1"/>
          <p:nvPr/>
        </p:nvSpPr>
        <p:spPr>
          <a:xfrm>
            <a:off x="4333875" y="1057275"/>
            <a:ext cx="5572125" cy="4371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TEST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Insurance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Brokers</a:t>
            </a:r>
          </a:p>
        </p:txBody>
      </p:sp>
      <p:pic>
        <p:nvPicPr>
          <p:cNvPr id="6" name="check3-tick-1" descr="_baked_check1-tick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6400800"/>
            <a:ext cx="1047750" cy="923925"/>
          </a:xfrm>
          <a:prstGeom prst="rect">
            <a:avLst/>
          </a:prstGeom>
        </p:spPr>
      </p:pic>
      <p:sp>
        <p:nvSpPr>
          <p:cNvPr id="7" name="check3-item-1"/>
          <p:cNvSpPr txBox="1"/>
          <p:nvPr/>
        </p:nvSpPr>
        <p:spPr>
          <a:xfrm>
            <a:off x="1571625" y="6334125"/>
            <a:ext cx="8001000" cy="285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7195"/>
              </a:lnSpc>
            </a:pPr>
            <a:r>
              <a:rPr sz="5850" b="0" i="0">
                <a:solidFill>
                  <a:srgbClr val="FFFFFF"/>
                </a:solidFill>
                <a:latin typeface="Work Sans"/>
              </a:rPr>
              <a:t>Supports a wide range of health and wellness modalities.</a:t>
            </a:r>
          </a:p>
        </p:txBody>
      </p:sp>
      <p:pic>
        <p:nvPicPr>
          <p:cNvPr id="8" name="check3-tick-2" descr="_baked_check1-tick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0096500"/>
            <a:ext cx="1047750" cy="923925"/>
          </a:xfrm>
          <a:prstGeom prst="rect">
            <a:avLst/>
          </a:prstGeom>
        </p:spPr>
      </p:pic>
      <p:sp>
        <p:nvSpPr>
          <p:cNvPr id="9" name="check3-item-2"/>
          <p:cNvSpPr txBox="1"/>
          <p:nvPr/>
        </p:nvSpPr>
        <p:spPr>
          <a:xfrm>
            <a:off x="1571625" y="10029825"/>
            <a:ext cx="8001000" cy="2857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7195"/>
              </a:lnSpc>
            </a:pPr>
            <a:r>
              <a:rPr sz="5850" b="0" i="0">
                <a:solidFill>
                  <a:srgbClr val="FFFFFF"/>
                </a:solidFill>
                <a:latin typeface="Work Sans"/>
              </a:rPr>
              <a:t>Local team with a fast, simple application process.</a:t>
            </a:r>
          </a:p>
        </p:txBody>
      </p:sp>
      <p:pic>
        <p:nvPicPr>
          <p:cNvPr id="10" name="check3-lockup" descr="_baked_cover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88" y="16602075"/>
            <a:ext cx="4238625" cy="1324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