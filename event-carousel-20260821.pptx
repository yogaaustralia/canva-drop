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0287000" cy="1285875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round"/>
          <p:cNvSpPr/>
          <p:nvPr/>
        </p:nvSpPr>
        <p:spPr>
          <a:xfrm>
            <a:off x="0" y="0"/>
            <a:ext cx="10287000" cy="12858750"/>
          </a:xfrm>
          <a:prstGeom prst="rect">
            <a:avLst/>
          </a:prstGeom>
          <a:solidFill>
            <a:srgbClr val="E1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hoto" descr="_baked_photo.png"/>
          <p:cNvPicPr>
            <a:picLocks noChangeAspect="1"/>
          </p:cNvPicPr>
          <p:nvPr/>
        </p:nvPicPr>
        <p:blipFill>
          <a:blip r:embed="rId2"/>
          <a:stretch>
            <a:fillRect/>
          </a:stretch>
        </p:blipFill>
        <p:spPr>
          <a:xfrm>
            <a:off x="5781675" y="0"/>
            <a:ext cx="4505325" cy="12858750"/>
          </a:xfrm>
          <a:prstGeom prst="rect">
            <a:avLst/>
          </a:prstGeom>
        </p:spPr>
      </p:pic>
      <p:sp>
        <p:nvSpPr>
          <p:cNvPr id="4" name="city-pill"/>
          <p:cNvSpPr/>
          <p:nvPr/>
        </p:nvSpPr>
        <p:spPr>
          <a:xfrm>
            <a:off x="0" y="447675"/>
            <a:ext cx="4524375" cy="1152525"/>
          </a:xfrm>
          <a:prstGeom prst="roundRect">
            <a:avLst>
              <a:gd name="adj" fmla="val 50000"/>
            </a:avLst>
          </a:prstGeom>
          <a:gradFill rotWithShape="1">
            <a:gsLst>
              <a:gs pos="0">
                <a:srgbClr val="C9BEC4"/>
              </a:gs>
              <a:gs pos="100000">
                <a:srgbClr val="74576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ity"/>
          <p:cNvSpPr txBox="1"/>
          <p:nvPr/>
        </p:nvSpPr>
        <p:spPr>
          <a:xfrm>
            <a:off x="333375" y="447675"/>
            <a:ext cx="2857500" cy="1152525"/>
          </a:xfrm>
          <a:prstGeom prst="rect">
            <a:avLst/>
          </a:prstGeom>
          <a:noFill/>
        </p:spPr>
        <p:txBody>
          <a:bodyPr wrap="square" anchor="ctr" lIns="0" rIns="0" tIns="0" bIns="0">
            <a:noAutofit/>
          </a:bodyPr>
          <a:lstStyle/>
          <a:p>
            <a:pPr algn="ctr">
              <a:lnSpc>
                <a:spcPts val="4575"/>
              </a:lnSpc>
            </a:pPr>
            <a:r>
              <a:rPr sz="4575" b="0" i="0" spc="150">
                <a:solidFill>
                  <a:srgbClr val="FFFFFF"/>
                </a:solidFill>
                <a:latin typeface="Work Sans"/>
              </a:rPr>
              <a:t>SYDNEY</a:t>
            </a:r>
          </a:p>
        </p:txBody>
      </p:sp>
      <p:pic>
        <p:nvPicPr>
          <p:cNvPr id="6" name="brandmark" descr="YA brandmark RGB white.png"/>
          <p:cNvPicPr>
            <a:picLocks noChangeAspect="1"/>
          </p:cNvPicPr>
          <p:nvPr/>
        </p:nvPicPr>
        <p:blipFill>
          <a:blip r:embed="rId3"/>
          <a:stretch>
            <a:fillRect/>
          </a:stretch>
        </p:blipFill>
        <p:spPr>
          <a:xfrm>
            <a:off x="2938139" y="336739"/>
            <a:ext cx="1448158" cy="1429118"/>
          </a:xfrm>
          <a:prstGeom prst="rect">
            <a:avLst/>
          </a:prstGeom>
        </p:spPr>
      </p:pic>
      <p:sp>
        <p:nvSpPr>
          <p:cNvPr id="7" name="title"/>
          <p:cNvSpPr txBox="1"/>
          <p:nvPr/>
        </p:nvSpPr>
        <p:spPr>
          <a:xfrm>
            <a:off x="514350" y="2200275"/>
            <a:ext cx="4752975" cy="3224974"/>
          </a:xfrm>
          <a:prstGeom prst="rect">
            <a:avLst/>
          </a:prstGeom>
          <a:noFill/>
        </p:spPr>
        <p:txBody>
          <a:bodyPr wrap="square" anchor="t" lIns="0" rIns="0" tIns="0" bIns="0">
            <a:noAutofit/>
          </a:bodyPr>
          <a:lstStyle/>
          <a:p>
            <a:pPr algn="l">
              <a:lnSpc>
                <a:spcPts val="8464"/>
              </a:lnSpc>
            </a:pPr>
            <a:r>
              <a:rPr sz="8550" b="0" i="0">
                <a:solidFill>
                  <a:srgbClr val="745766"/>
                </a:solidFill>
                <a:latin typeface="Larken Medium"/>
              </a:rPr>
              <a:t>TEST</a:t>
            </a:r>
          </a:p>
          <a:p>
            <a:pPr algn="l">
              <a:lnSpc>
                <a:spcPts val="8464"/>
              </a:lnSpc>
            </a:pPr>
            <a:r>
              <a:rPr sz="8550" b="0" i="0">
                <a:solidFill>
                  <a:srgbClr val="745766"/>
                </a:solidFill>
                <a:latin typeface="Larken Medium"/>
              </a:rPr>
              <a:t>HEART</a:t>
            </a:r>
          </a:p>
          <a:p>
            <a:pPr algn="l">
              <a:lnSpc>
                <a:spcPts val="8464"/>
              </a:lnSpc>
            </a:pPr>
            <a:r>
              <a:rPr sz="8550" b="0" i="0">
                <a:solidFill>
                  <a:srgbClr val="745766"/>
                </a:solidFill>
                <a:latin typeface="Larken Medium"/>
              </a:rPr>
              <a:t>RESET</a:t>
            </a:r>
          </a:p>
        </p:txBody>
      </p:sp>
      <p:sp>
        <p:nvSpPr>
          <p:cNvPr id="8" name="body"/>
          <p:cNvSpPr txBox="1"/>
          <p:nvPr/>
        </p:nvSpPr>
        <p:spPr>
          <a:xfrm>
            <a:off x="514350" y="5981700"/>
            <a:ext cx="4752975" cy="2286000"/>
          </a:xfrm>
          <a:prstGeom prst="rect">
            <a:avLst/>
          </a:prstGeom>
          <a:noFill/>
        </p:spPr>
        <p:txBody>
          <a:bodyPr wrap="square" anchor="t" lIns="0" rIns="0" tIns="0" bIns="0">
            <a:noAutofit/>
          </a:bodyPr>
          <a:lstStyle/>
          <a:p>
            <a:pPr algn="l">
              <a:lnSpc>
                <a:spcPts val="3300"/>
              </a:lnSpc>
            </a:pPr>
            <a:r>
              <a:rPr sz="3000" b="0" i="0">
                <a:solidFill>
                  <a:srgbClr val="745766"/>
                </a:solidFill>
                <a:latin typeface="Work Sans"/>
              </a:rPr>
              <a:t>Join us for a rejuvenating experience with expert-led discussions and Japanese Yoga practice.</a:t>
            </a:r>
          </a:p>
        </p:txBody>
      </p:sp>
      <p:sp>
        <p:nvSpPr>
          <p:cNvPr id="9" name="subline"/>
          <p:cNvSpPr txBox="1"/>
          <p:nvPr/>
        </p:nvSpPr>
        <p:spPr>
          <a:xfrm>
            <a:off x="514350" y="8134350"/>
            <a:ext cx="4752975" cy="476250"/>
          </a:xfrm>
          <a:prstGeom prst="rect">
            <a:avLst/>
          </a:prstGeom>
          <a:noFill/>
        </p:spPr>
        <p:txBody>
          <a:bodyPr wrap="square" anchor="t" lIns="0" rIns="0" tIns="0" bIns="0">
            <a:noAutofit/>
          </a:bodyPr>
          <a:lstStyle/>
          <a:p>
            <a:pPr algn="l">
              <a:lnSpc>
                <a:spcPts val="2805"/>
              </a:lnSpc>
            </a:pPr>
            <a:r>
              <a:rPr sz="2550" b="1" i="0">
                <a:solidFill>
                  <a:srgbClr val="745766"/>
                </a:solidFill>
                <a:latin typeface="Work Sans"/>
              </a:rPr>
              <a:t>Reconnect your mind and body</a:t>
            </a:r>
          </a:p>
        </p:txBody>
      </p:sp>
      <p:sp>
        <p:nvSpPr>
          <p:cNvPr id="10" name="detail"/>
          <p:cNvSpPr txBox="1"/>
          <p:nvPr/>
        </p:nvSpPr>
        <p:spPr>
          <a:xfrm>
            <a:off x="514350" y="9210675"/>
            <a:ext cx="4752975" cy="1257300"/>
          </a:xfrm>
          <a:prstGeom prst="rect">
            <a:avLst/>
          </a:prstGeom>
          <a:noFill/>
        </p:spPr>
        <p:txBody>
          <a:bodyPr wrap="square" anchor="t" lIns="0" rIns="0" tIns="0" bIns="0">
            <a:noAutofit/>
          </a:bodyPr>
          <a:lstStyle/>
          <a:p>
            <a:pPr algn="l">
              <a:lnSpc>
                <a:spcPts val="3300"/>
              </a:lnSpc>
            </a:pPr>
            <a:r>
              <a:rPr sz="3000" b="0" i="0">
                <a:solidFill>
                  <a:srgbClr val="745766"/>
                </a:solidFill>
                <a:latin typeface="Work Sans"/>
              </a:rPr>
              <a:t>Sunday 9 November</a:t>
            </a:r>
          </a:p>
          <a:p>
            <a:pPr algn="l">
              <a:lnSpc>
                <a:spcPts val="3300"/>
              </a:lnSpc>
            </a:pPr>
            <a:r>
              <a:rPr sz="3000" b="0" i="0">
                <a:solidFill>
                  <a:srgbClr val="745766"/>
                </a:solidFill>
                <a:latin typeface="Work Sans"/>
              </a:rPr>
              <a:t>10am - 1pm</a:t>
            </a:r>
          </a:p>
          <a:p>
            <a:pPr algn="l">
              <a:lnSpc>
                <a:spcPts val="3300"/>
              </a:lnSpc>
            </a:pPr>
            <a:r>
              <a:rPr sz="3000" b="0" i="0">
                <a:solidFill>
                  <a:srgbClr val="745766"/>
                </a:solidFill>
                <a:latin typeface="Work Sans"/>
              </a:rPr>
              <a:t>Crows Nest, NSW</a:t>
            </a:r>
          </a:p>
        </p:txBody>
      </p:sp>
      <p:pic>
        <p:nvPicPr>
          <p:cNvPr id="11" name="lockup" descr="YA logo RGB 800w.png"/>
          <p:cNvPicPr>
            <a:picLocks noChangeAspect="1"/>
          </p:cNvPicPr>
          <p:nvPr/>
        </p:nvPicPr>
        <p:blipFill>
          <a:blip r:embed="rId4"/>
          <a:stretch>
            <a:fillRect/>
          </a:stretch>
        </p:blipFill>
        <p:spPr>
          <a:xfrm>
            <a:off x="485775" y="11287125"/>
            <a:ext cx="3467100" cy="108346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round"/>
          <p:cNvSpPr/>
          <p:nvPr/>
        </p:nvSpPr>
        <p:spPr>
          <a:xfrm>
            <a:off x="0" y="0"/>
            <a:ext cx="10287000" cy="12858750"/>
          </a:xfrm>
          <a:prstGeom prst="rect">
            <a:avLst/>
          </a:prstGeom>
          <a:solidFill>
            <a:srgbClr val="E1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ty-pill"/>
          <p:cNvSpPr/>
          <p:nvPr/>
        </p:nvSpPr>
        <p:spPr>
          <a:xfrm>
            <a:off x="0" y="447675"/>
            <a:ext cx="4524375" cy="1152525"/>
          </a:xfrm>
          <a:prstGeom prst="roundRect">
            <a:avLst>
              <a:gd name="adj" fmla="val 50000"/>
            </a:avLst>
          </a:prstGeom>
          <a:gradFill rotWithShape="1">
            <a:gsLst>
              <a:gs pos="0">
                <a:srgbClr val="C9BEC4"/>
              </a:gs>
              <a:gs pos="100000">
                <a:srgbClr val="74576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ity"/>
          <p:cNvSpPr txBox="1"/>
          <p:nvPr/>
        </p:nvSpPr>
        <p:spPr>
          <a:xfrm>
            <a:off x="333375" y="447675"/>
            <a:ext cx="2857500" cy="1152525"/>
          </a:xfrm>
          <a:prstGeom prst="rect">
            <a:avLst/>
          </a:prstGeom>
          <a:noFill/>
        </p:spPr>
        <p:txBody>
          <a:bodyPr wrap="square" anchor="ctr" lIns="0" rIns="0" tIns="0" bIns="0">
            <a:noAutofit/>
          </a:bodyPr>
          <a:lstStyle/>
          <a:p>
            <a:pPr algn="ctr">
              <a:lnSpc>
                <a:spcPts val="4575"/>
              </a:lnSpc>
            </a:pPr>
            <a:r>
              <a:rPr sz="4575" b="0" i="0" spc="150">
                <a:solidFill>
                  <a:srgbClr val="FFFFFF"/>
                </a:solidFill>
                <a:latin typeface="Work Sans"/>
              </a:rPr>
              <a:t>SYDNEY</a:t>
            </a:r>
          </a:p>
        </p:txBody>
      </p:sp>
      <p:pic>
        <p:nvPicPr>
          <p:cNvPr id="5" name="brandmark" descr="YA brandmark RGB white.png"/>
          <p:cNvPicPr>
            <a:picLocks noChangeAspect="1"/>
          </p:cNvPicPr>
          <p:nvPr/>
        </p:nvPicPr>
        <p:blipFill>
          <a:blip r:embed="rId2"/>
          <a:stretch>
            <a:fillRect/>
          </a:stretch>
        </p:blipFill>
        <p:spPr>
          <a:xfrm>
            <a:off x="2938139" y="336739"/>
            <a:ext cx="1448158" cy="1429118"/>
          </a:xfrm>
          <a:prstGeom prst="rect">
            <a:avLst/>
          </a:prstGeom>
        </p:spPr>
      </p:pic>
      <p:sp>
        <p:nvSpPr>
          <p:cNvPr id="6" name="title"/>
          <p:cNvSpPr txBox="1"/>
          <p:nvPr/>
        </p:nvSpPr>
        <p:spPr>
          <a:xfrm>
            <a:off x="190500" y="2190750"/>
            <a:ext cx="9906000" cy="1691640"/>
          </a:xfrm>
          <a:prstGeom prst="rect">
            <a:avLst/>
          </a:prstGeom>
          <a:noFill/>
        </p:spPr>
        <p:txBody>
          <a:bodyPr wrap="square" anchor="t" lIns="0" rIns="0" tIns="0" bIns="0">
            <a:noAutofit/>
          </a:bodyPr>
          <a:lstStyle/>
          <a:p>
            <a:pPr algn="ctr">
              <a:lnSpc>
                <a:spcPts val="6660"/>
              </a:lnSpc>
            </a:pPr>
            <a:r>
              <a:rPr sz="6000" b="0" i="0">
                <a:solidFill>
                  <a:srgbClr val="745766"/>
                </a:solidFill>
                <a:latin typeface="Larken Medium"/>
              </a:rPr>
              <a:t>60-minute Japanese Yoga</a:t>
            </a:r>
          </a:p>
          <a:p>
            <a:pPr algn="ctr">
              <a:lnSpc>
                <a:spcPts val="6660"/>
              </a:lnSpc>
            </a:pPr>
            <a:r>
              <a:rPr sz="6000" b="0" i="0">
                <a:solidFill>
                  <a:srgbClr val="745766"/>
                </a:solidFill>
                <a:latin typeface="Larken Medium"/>
              </a:rPr>
              <a:t>with Susan Hughes</a:t>
            </a:r>
          </a:p>
        </p:txBody>
      </p:sp>
      <p:sp>
        <p:nvSpPr>
          <p:cNvPr id="7" name="disc-ring"/>
          <p:cNvSpPr/>
          <p:nvPr/>
        </p:nvSpPr>
        <p:spPr>
          <a:xfrm>
            <a:off x="3281362" y="4438650"/>
            <a:ext cx="3724275" cy="3724275"/>
          </a:xfrm>
          <a:prstGeom prst="ellipse">
            <a:avLst/>
          </a:prstGeom>
          <a:solidFill>
            <a:srgbClr val="7457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disc" descr="_baked_disc.png"/>
          <p:cNvPicPr>
            <a:picLocks noChangeAspect="1"/>
          </p:cNvPicPr>
          <p:nvPr/>
        </p:nvPicPr>
        <p:blipFill>
          <a:blip r:embed="rId3"/>
          <a:stretch>
            <a:fillRect/>
          </a:stretch>
        </p:blipFill>
        <p:spPr>
          <a:xfrm>
            <a:off x="3395662" y="4552950"/>
            <a:ext cx="3495675" cy="3495675"/>
          </a:xfrm>
          <a:prstGeom prst="rect">
            <a:avLst/>
          </a:prstGeom>
        </p:spPr>
      </p:pic>
      <p:sp>
        <p:nvSpPr>
          <p:cNvPr id="9" name="lead"/>
          <p:cNvSpPr txBox="1"/>
          <p:nvPr/>
        </p:nvSpPr>
        <p:spPr>
          <a:xfrm>
            <a:off x="857250" y="8715375"/>
            <a:ext cx="8572500" cy="495300"/>
          </a:xfrm>
          <a:prstGeom prst="rect">
            <a:avLst/>
          </a:prstGeom>
          <a:noFill/>
        </p:spPr>
        <p:txBody>
          <a:bodyPr wrap="square" anchor="t" lIns="0" rIns="0" tIns="0" bIns="0">
            <a:noAutofit/>
          </a:bodyPr>
          <a:lstStyle/>
          <a:p>
            <a:pPr algn="ctr">
              <a:lnSpc>
                <a:spcPts val="3465"/>
              </a:lnSpc>
            </a:pPr>
            <a:r>
              <a:rPr sz="3150" b="1" i="0">
                <a:solidFill>
                  <a:srgbClr val="745766"/>
                </a:solidFill>
                <a:latin typeface="Work Sans"/>
              </a:rPr>
              <a:t>As the seasons shift, so do we!</a:t>
            </a:r>
          </a:p>
        </p:txBody>
      </p:sp>
      <p:sp>
        <p:nvSpPr>
          <p:cNvPr id="10" name="body"/>
          <p:cNvSpPr txBox="1"/>
          <p:nvPr/>
        </p:nvSpPr>
        <p:spPr>
          <a:xfrm>
            <a:off x="571500" y="9105900"/>
            <a:ext cx="9144000" cy="2381250"/>
          </a:xfrm>
          <a:prstGeom prst="rect">
            <a:avLst/>
          </a:prstGeom>
          <a:noFill/>
        </p:spPr>
        <p:txBody>
          <a:bodyPr wrap="square" anchor="t" lIns="0" rIns="0" tIns="0" bIns="0">
            <a:noAutofit/>
          </a:bodyPr>
          <a:lstStyle/>
          <a:p>
            <a:pPr algn="ctr">
              <a:lnSpc>
                <a:spcPts val="3450"/>
              </a:lnSpc>
            </a:pPr>
            <a:r>
              <a:rPr sz="3000" b="0" i="0">
                <a:solidFill>
                  <a:srgbClr val="745766"/>
                </a:solidFill>
                <a:latin typeface="Work Sans"/>
              </a:rPr>
              <a:t>This Japanese Yoga (Ryoho) class supports the heart and small intestine, the organs of the summer season. Through grounding movements, we'll take some stress away from our chest to allow our heart space to soften.</a:t>
            </a:r>
          </a:p>
        </p:txBody>
      </p:sp>
      <p:pic>
        <p:nvPicPr>
          <p:cNvPr id="11" name="lockup" descr="YA logo RGB 800w.png"/>
          <p:cNvPicPr>
            <a:picLocks noChangeAspect="1"/>
          </p:cNvPicPr>
          <p:nvPr/>
        </p:nvPicPr>
        <p:blipFill>
          <a:blip r:embed="rId4"/>
          <a:stretch>
            <a:fillRect/>
          </a:stretch>
        </p:blipFill>
        <p:spPr>
          <a:xfrm>
            <a:off x="3409950" y="11496675"/>
            <a:ext cx="3467100" cy="108346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round"/>
          <p:cNvSpPr/>
          <p:nvPr/>
        </p:nvSpPr>
        <p:spPr>
          <a:xfrm>
            <a:off x="0" y="0"/>
            <a:ext cx="10287000" cy="12858750"/>
          </a:xfrm>
          <a:prstGeom prst="rect">
            <a:avLst/>
          </a:prstGeom>
          <a:solidFill>
            <a:srgbClr val="E1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ty-pill"/>
          <p:cNvSpPr/>
          <p:nvPr/>
        </p:nvSpPr>
        <p:spPr>
          <a:xfrm>
            <a:off x="0" y="447675"/>
            <a:ext cx="4524375" cy="1152525"/>
          </a:xfrm>
          <a:prstGeom prst="roundRect">
            <a:avLst>
              <a:gd name="adj" fmla="val 50000"/>
            </a:avLst>
          </a:prstGeom>
          <a:gradFill rotWithShape="1">
            <a:gsLst>
              <a:gs pos="0">
                <a:srgbClr val="C9BEC4"/>
              </a:gs>
              <a:gs pos="100000">
                <a:srgbClr val="74576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ity"/>
          <p:cNvSpPr txBox="1"/>
          <p:nvPr/>
        </p:nvSpPr>
        <p:spPr>
          <a:xfrm>
            <a:off x="333375" y="447675"/>
            <a:ext cx="2857500" cy="1152525"/>
          </a:xfrm>
          <a:prstGeom prst="rect">
            <a:avLst/>
          </a:prstGeom>
          <a:noFill/>
        </p:spPr>
        <p:txBody>
          <a:bodyPr wrap="square" anchor="ctr" lIns="0" rIns="0" tIns="0" bIns="0">
            <a:noAutofit/>
          </a:bodyPr>
          <a:lstStyle/>
          <a:p>
            <a:pPr algn="ctr">
              <a:lnSpc>
                <a:spcPts val="4575"/>
              </a:lnSpc>
            </a:pPr>
            <a:r>
              <a:rPr sz="4575" b="0" i="0" spc="150">
                <a:solidFill>
                  <a:srgbClr val="FFFFFF"/>
                </a:solidFill>
                <a:latin typeface="Work Sans"/>
              </a:rPr>
              <a:t>SYDNEY</a:t>
            </a:r>
          </a:p>
        </p:txBody>
      </p:sp>
      <p:pic>
        <p:nvPicPr>
          <p:cNvPr id="5" name="brandmark" descr="YA brandmark RGB white.png"/>
          <p:cNvPicPr>
            <a:picLocks noChangeAspect="1"/>
          </p:cNvPicPr>
          <p:nvPr/>
        </p:nvPicPr>
        <p:blipFill>
          <a:blip r:embed="rId2"/>
          <a:stretch>
            <a:fillRect/>
          </a:stretch>
        </p:blipFill>
        <p:spPr>
          <a:xfrm>
            <a:off x="2938139" y="336739"/>
            <a:ext cx="1448158" cy="1429118"/>
          </a:xfrm>
          <a:prstGeom prst="rect">
            <a:avLst/>
          </a:prstGeom>
        </p:spPr>
      </p:pic>
      <p:sp>
        <p:nvSpPr>
          <p:cNvPr id="6" name="kicker"/>
          <p:cNvSpPr txBox="1"/>
          <p:nvPr/>
        </p:nvSpPr>
        <p:spPr>
          <a:xfrm>
            <a:off x="857250" y="2790825"/>
            <a:ext cx="8572500" cy="495300"/>
          </a:xfrm>
          <a:prstGeom prst="rect">
            <a:avLst/>
          </a:prstGeom>
          <a:noFill/>
        </p:spPr>
        <p:txBody>
          <a:bodyPr wrap="square" anchor="t" lIns="0" rIns="0" tIns="0" bIns="0">
            <a:noAutofit/>
          </a:bodyPr>
          <a:lstStyle/>
          <a:p>
            <a:pPr algn="ctr">
              <a:lnSpc>
                <a:spcPts val="3150"/>
              </a:lnSpc>
            </a:pPr>
            <a:r>
              <a:rPr sz="3150" b="0" i="0" spc="150">
                <a:solidFill>
                  <a:srgbClr val="745766"/>
                </a:solidFill>
                <a:latin typeface="Larken Medium"/>
              </a:rPr>
              <a:t>60-MINUTE EXPERT-LED DISCUSSION:</a:t>
            </a:r>
          </a:p>
        </p:txBody>
      </p:sp>
      <p:sp>
        <p:nvSpPr>
          <p:cNvPr id="7" name="title"/>
          <p:cNvSpPr txBox="1"/>
          <p:nvPr/>
        </p:nvSpPr>
        <p:spPr>
          <a:xfrm>
            <a:off x="190500" y="3409950"/>
            <a:ext cx="9906000" cy="1543050"/>
          </a:xfrm>
          <a:prstGeom prst="rect">
            <a:avLst/>
          </a:prstGeom>
          <a:noFill/>
        </p:spPr>
        <p:txBody>
          <a:bodyPr wrap="square" anchor="t" lIns="0" rIns="0" tIns="0" bIns="0">
            <a:noAutofit/>
          </a:bodyPr>
          <a:lstStyle/>
          <a:p>
            <a:pPr algn="ctr">
              <a:lnSpc>
                <a:spcPts val="6075"/>
              </a:lnSpc>
            </a:pPr>
            <a:r>
              <a:rPr sz="5625" b="0" i="0">
                <a:solidFill>
                  <a:srgbClr val="745766"/>
                </a:solidFill>
                <a:latin typeface="Larken Medium"/>
              </a:rPr>
              <a:t>Trends Shaping the Next</a:t>
            </a:r>
          </a:p>
          <a:p>
            <a:pPr algn="ctr">
              <a:lnSpc>
                <a:spcPts val="6075"/>
              </a:lnSpc>
            </a:pPr>
            <a:r>
              <a:rPr sz="5625" b="0" i="0">
                <a:solidFill>
                  <a:srgbClr val="745766"/>
                </a:solidFill>
                <a:latin typeface="Larken Medium"/>
              </a:rPr>
              <a:t>Generation of Yoga Teaching</a:t>
            </a:r>
          </a:p>
        </p:txBody>
      </p:sp>
      <p:sp>
        <p:nvSpPr>
          <p:cNvPr id="8" name="s3-disc-1-ring"/>
          <p:cNvSpPr/>
          <p:nvPr/>
        </p:nvSpPr>
        <p:spPr>
          <a:xfrm>
            <a:off x="1304925" y="5848350"/>
            <a:ext cx="2057400" cy="2057400"/>
          </a:xfrm>
          <a:prstGeom prst="ellipse">
            <a:avLst/>
          </a:prstGeom>
          <a:solidFill>
            <a:srgbClr val="7457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s3-disc-1" descr="_baked_s3-disc-1.png"/>
          <p:cNvPicPr>
            <a:picLocks noChangeAspect="1"/>
          </p:cNvPicPr>
          <p:nvPr/>
        </p:nvPicPr>
        <p:blipFill>
          <a:blip r:embed="rId3"/>
          <a:stretch>
            <a:fillRect/>
          </a:stretch>
        </p:blipFill>
        <p:spPr>
          <a:xfrm>
            <a:off x="1400175" y="5943600"/>
            <a:ext cx="1866900" cy="1866900"/>
          </a:xfrm>
          <a:prstGeom prst="rect">
            <a:avLst/>
          </a:prstGeom>
        </p:spPr>
      </p:pic>
      <p:sp>
        <p:nvSpPr>
          <p:cNvPr id="10" name="s3-name-1"/>
          <p:cNvSpPr txBox="1"/>
          <p:nvPr/>
        </p:nvSpPr>
        <p:spPr>
          <a:xfrm>
            <a:off x="238125" y="7953375"/>
            <a:ext cx="4191000" cy="480060"/>
          </a:xfrm>
          <a:prstGeom prst="rect">
            <a:avLst/>
          </a:prstGeom>
          <a:noFill/>
        </p:spPr>
        <p:txBody>
          <a:bodyPr wrap="square" anchor="t" lIns="0" rIns="0" tIns="0" bIns="0">
            <a:noAutofit/>
          </a:bodyPr>
          <a:lstStyle/>
          <a:p>
            <a:pPr algn="ctr">
              <a:lnSpc>
                <a:spcPts val="3150"/>
              </a:lnSpc>
            </a:pPr>
            <a:r>
              <a:rPr sz="3150" b="0" i="0">
                <a:solidFill>
                  <a:srgbClr val="745766"/>
                </a:solidFill>
                <a:latin typeface="Larken Regular"/>
              </a:rPr>
              <a:t>Susan Hughes</a:t>
            </a:r>
          </a:p>
        </p:txBody>
      </p:sp>
      <p:sp>
        <p:nvSpPr>
          <p:cNvPr id="11" name="s3-disc-2-ring"/>
          <p:cNvSpPr/>
          <p:nvPr/>
        </p:nvSpPr>
        <p:spPr>
          <a:xfrm>
            <a:off x="4114800" y="5848350"/>
            <a:ext cx="2057400" cy="2057400"/>
          </a:xfrm>
          <a:prstGeom prst="ellipse">
            <a:avLst/>
          </a:prstGeom>
          <a:solidFill>
            <a:srgbClr val="7457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s3-disc-2" descr="_baked_s3-disc-2.png"/>
          <p:cNvPicPr>
            <a:picLocks noChangeAspect="1"/>
          </p:cNvPicPr>
          <p:nvPr/>
        </p:nvPicPr>
        <p:blipFill>
          <a:blip r:embed="rId4"/>
          <a:stretch>
            <a:fillRect/>
          </a:stretch>
        </p:blipFill>
        <p:spPr>
          <a:xfrm>
            <a:off x="4210050" y="5943600"/>
            <a:ext cx="1866900" cy="1866900"/>
          </a:xfrm>
          <a:prstGeom prst="rect">
            <a:avLst/>
          </a:prstGeom>
        </p:spPr>
      </p:pic>
      <p:sp>
        <p:nvSpPr>
          <p:cNvPr id="13" name="s3-name-2"/>
          <p:cNvSpPr txBox="1"/>
          <p:nvPr/>
        </p:nvSpPr>
        <p:spPr>
          <a:xfrm>
            <a:off x="3048000" y="7953375"/>
            <a:ext cx="4191000" cy="480060"/>
          </a:xfrm>
          <a:prstGeom prst="rect">
            <a:avLst/>
          </a:prstGeom>
          <a:noFill/>
        </p:spPr>
        <p:txBody>
          <a:bodyPr wrap="square" anchor="t" lIns="0" rIns="0" tIns="0" bIns="0">
            <a:noAutofit/>
          </a:bodyPr>
          <a:lstStyle/>
          <a:p>
            <a:pPr algn="ctr">
              <a:lnSpc>
                <a:spcPts val="3150"/>
              </a:lnSpc>
            </a:pPr>
            <a:r>
              <a:rPr sz="3150" b="0" i="0">
                <a:solidFill>
                  <a:srgbClr val="745766"/>
                </a:solidFill>
                <a:latin typeface="Larken Regular"/>
              </a:rPr>
              <a:t>Pixie Lillas</a:t>
            </a:r>
          </a:p>
        </p:txBody>
      </p:sp>
      <p:sp>
        <p:nvSpPr>
          <p:cNvPr id="14" name="s3-disc-3-ring"/>
          <p:cNvSpPr/>
          <p:nvPr/>
        </p:nvSpPr>
        <p:spPr>
          <a:xfrm>
            <a:off x="6924675" y="5848350"/>
            <a:ext cx="2057400" cy="2057400"/>
          </a:xfrm>
          <a:prstGeom prst="ellipse">
            <a:avLst/>
          </a:prstGeom>
          <a:solidFill>
            <a:srgbClr val="7457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s3-disc-3" descr="_baked_s3-disc-3.png"/>
          <p:cNvPicPr>
            <a:picLocks noChangeAspect="1"/>
          </p:cNvPicPr>
          <p:nvPr/>
        </p:nvPicPr>
        <p:blipFill>
          <a:blip r:embed="rId5"/>
          <a:stretch>
            <a:fillRect/>
          </a:stretch>
        </p:blipFill>
        <p:spPr>
          <a:xfrm>
            <a:off x="7019925" y="5943600"/>
            <a:ext cx="1866900" cy="1866900"/>
          </a:xfrm>
          <a:prstGeom prst="rect">
            <a:avLst/>
          </a:prstGeom>
        </p:spPr>
      </p:pic>
      <p:sp>
        <p:nvSpPr>
          <p:cNvPr id="16" name="s3-name-3"/>
          <p:cNvSpPr txBox="1"/>
          <p:nvPr/>
        </p:nvSpPr>
        <p:spPr>
          <a:xfrm>
            <a:off x="5857875" y="7953375"/>
            <a:ext cx="4191000" cy="480060"/>
          </a:xfrm>
          <a:prstGeom prst="rect">
            <a:avLst/>
          </a:prstGeom>
          <a:noFill/>
        </p:spPr>
        <p:txBody>
          <a:bodyPr wrap="square" anchor="t" lIns="0" rIns="0" tIns="0" bIns="0">
            <a:noAutofit/>
          </a:bodyPr>
          <a:lstStyle/>
          <a:p>
            <a:pPr algn="ctr">
              <a:lnSpc>
                <a:spcPts val="3150"/>
              </a:lnSpc>
            </a:pPr>
            <a:r>
              <a:rPr sz="3150" b="0" i="0">
                <a:solidFill>
                  <a:srgbClr val="745766"/>
                </a:solidFill>
                <a:latin typeface="Larken Regular"/>
              </a:rPr>
              <a:t>Rachael Coopes</a:t>
            </a:r>
          </a:p>
        </p:txBody>
      </p:sp>
      <p:sp>
        <p:nvSpPr>
          <p:cNvPr id="17" name="body"/>
          <p:cNvSpPr txBox="1"/>
          <p:nvPr/>
        </p:nvSpPr>
        <p:spPr>
          <a:xfrm>
            <a:off x="857250" y="9191625"/>
            <a:ext cx="8572500" cy="1905000"/>
          </a:xfrm>
          <a:prstGeom prst="rect">
            <a:avLst/>
          </a:prstGeom>
          <a:noFill/>
        </p:spPr>
        <p:txBody>
          <a:bodyPr wrap="square" anchor="t" lIns="0" rIns="0" tIns="0" bIns="0">
            <a:noAutofit/>
          </a:bodyPr>
          <a:lstStyle/>
          <a:p>
            <a:pPr algn="ctr">
              <a:lnSpc>
                <a:spcPts val="4189"/>
              </a:lnSpc>
            </a:pPr>
            <a:r>
              <a:rPr sz="3150" b="0" i="0">
                <a:solidFill>
                  <a:srgbClr val="745766"/>
                </a:solidFill>
                <a:latin typeface="Work Sans"/>
              </a:rPr>
              <a:t>Discover what's next for yoga teachers and communities in a dynamic conversation that blends modern innovation with timeless wisdom.</a:t>
            </a:r>
          </a:p>
        </p:txBody>
      </p:sp>
      <p:pic>
        <p:nvPicPr>
          <p:cNvPr id="18" name="lockup" descr="YA logo RGB 800w.png"/>
          <p:cNvPicPr>
            <a:picLocks noChangeAspect="1"/>
          </p:cNvPicPr>
          <p:nvPr/>
        </p:nvPicPr>
        <p:blipFill>
          <a:blip r:embed="rId6"/>
          <a:stretch>
            <a:fillRect/>
          </a:stretch>
        </p:blipFill>
        <p:spPr>
          <a:xfrm>
            <a:off x="3409950" y="11496675"/>
            <a:ext cx="3467100" cy="108346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round"/>
          <p:cNvSpPr/>
          <p:nvPr/>
        </p:nvSpPr>
        <p:spPr>
          <a:xfrm>
            <a:off x="0" y="0"/>
            <a:ext cx="10287000" cy="12858750"/>
          </a:xfrm>
          <a:prstGeom prst="rect">
            <a:avLst/>
          </a:prstGeom>
          <a:solidFill>
            <a:srgbClr val="E1D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ity-pill"/>
          <p:cNvSpPr/>
          <p:nvPr/>
        </p:nvSpPr>
        <p:spPr>
          <a:xfrm>
            <a:off x="0" y="447675"/>
            <a:ext cx="4524375" cy="1152525"/>
          </a:xfrm>
          <a:prstGeom prst="roundRect">
            <a:avLst>
              <a:gd name="adj" fmla="val 50000"/>
            </a:avLst>
          </a:prstGeom>
          <a:gradFill rotWithShape="1">
            <a:gsLst>
              <a:gs pos="0">
                <a:srgbClr val="C9BEC4"/>
              </a:gs>
              <a:gs pos="100000">
                <a:srgbClr val="74576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ity"/>
          <p:cNvSpPr txBox="1"/>
          <p:nvPr/>
        </p:nvSpPr>
        <p:spPr>
          <a:xfrm>
            <a:off x="333375" y="447675"/>
            <a:ext cx="2857500" cy="1152525"/>
          </a:xfrm>
          <a:prstGeom prst="rect">
            <a:avLst/>
          </a:prstGeom>
          <a:noFill/>
        </p:spPr>
        <p:txBody>
          <a:bodyPr wrap="square" anchor="ctr" lIns="0" rIns="0" tIns="0" bIns="0">
            <a:noAutofit/>
          </a:bodyPr>
          <a:lstStyle/>
          <a:p>
            <a:pPr algn="ctr">
              <a:lnSpc>
                <a:spcPts val="4575"/>
              </a:lnSpc>
            </a:pPr>
            <a:r>
              <a:rPr sz="4575" b="0" i="0" spc="150">
                <a:solidFill>
                  <a:srgbClr val="FFFFFF"/>
                </a:solidFill>
                <a:latin typeface="Work Sans"/>
              </a:rPr>
              <a:t>SYDNEY</a:t>
            </a:r>
          </a:p>
        </p:txBody>
      </p:sp>
      <p:pic>
        <p:nvPicPr>
          <p:cNvPr id="5" name="brandmark" descr="YA brandmark RGB white.png"/>
          <p:cNvPicPr>
            <a:picLocks noChangeAspect="1"/>
          </p:cNvPicPr>
          <p:nvPr/>
        </p:nvPicPr>
        <p:blipFill>
          <a:blip r:embed="rId2"/>
          <a:stretch>
            <a:fillRect/>
          </a:stretch>
        </p:blipFill>
        <p:spPr>
          <a:xfrm>
            <a:off x="2938139" y="336739"/>
            <a:ext cx="1448158" cy="1429118"/>
          </a:xfrm>
          <a:prstGeom prst="rect">
            <a:avLst/>
          </a:prstGeom>
        </p:spPr>
      </p:pic>
      <p:sp>
        <p:nvSpPr>
          <p:cNvPr id="6" name="title"/>
          <p:cNvSpPr txBox="1"/>
          <p:nvPr/>
        </p:nvSpPr>
        <p:spPr>
          <a:xfrm>
            <a:off x="190500" y="2324100"/>
            <a:ext cx="9906000" cy="1524000"/>
          </a:xfrm>
          <a:prstGeom prst="rect">
            <a:avLst/>
          </a:prstGeom>
          <a:noFill/>
        </p:spPr>
        <p:txBody>
          <a:bodyPr wrap="square" anchor="t" lIns="0" rIns="0" tIns="0" bIns="0">
            <a:noAutofit/>
          </a:bodyPr>
          <a:lstStyle/>
          <a:p>
            <a:pPr algn="ctr">
              <a:lnSpc>
                <a:spcPts val="6000"/>
              </a:lnSpc>
            </a:pPr>
            <a:r>
              <a:rPr sz="6000" b="0" i="0">
                <a:solidFill>
                  <a:srgbClr val="745766"/>
                </a:solidFill>
                <a:latin typeface="Larken Medium"/>
              </a:rPr>
              <a:t>Hosted by our NSW</a:t>
            </a:r>
          </a:p>
          <a:p>
            <a:pPr algn="ctr">
              <a:lnSpc>
                <a:spcPts val="6000"/>
              </a:lnSpc>
            </a:pPr>
            <a:r>
              <a:rPr sz="6000" b="0" i="0">
                <a:solidFill>
                  <a:srgbClr val="745766"/>
                </a:solidFill>
                <a:latin typeface="Larken Medium"/>
              </a:rPr>
              <a:t>Community Representatives</a:t>
            </a:r>
          </a:p>
        </p:txBody>
      </p:sp>
      <p:sp>
        <p:nvSpPr>
          <p:cNvPr id="7" name="s4-disc-1-ring"/>
          <p:cNvSpPr/>
          <p:nvPr/>
        </p:nvSpPr>
        <p:spPr>
          <a:xfrm>
            <a:off x="2486025" y="4486275"/>
            <a:ext cx="2076450" cy="2076450"/>
          </a:xfrm>
          <a:prstGeom prst="ellipse">
            <a:avLst/>
          </a:prstGeom>
          <a:solidFill>
            <a:srgbClr val="7457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s4-disc-1" descr="_baked_s4-disc-1.png"/>
          <p:cNvPicPr>
            <a:picLocks noChangeAspect="1"/>
          </p:cNvPicPr>
          <p:nvPr/>
        </p:nvPicPr>
        <p:blipFill>
          <a:blip r:embed="rId3"/>
          <a:stretch>
            <a:fillRect/>
          </a:stretch>
        </p:blipFill>
        <p:spPr>
          <a:xfrm>
            <a:off x="2581275" y="4581525"/>
            <a:ext cx="1885950" cy="1885950"/>
          </a:xfrm>
          <a:prstGeom prst="rect">
            <a:avLst/>
          </a:prstGeom>
        </p:spPr>
      </p:pic>
      <p:sp>
        <p:nvSpPr>
          <p:cNvPr id="9" name="s4-name-1"/>
          <p:cNvSpPr txBox="1"/>
          <p:nvPr/>
        </p:nvSpPr>
        <p:spPr>
          <a:xfrm>
            <a:off x="1428750" y="6591300"/>
            <a:ext cx="4191000" cy="480060"/>
          </a:xfrm>
          <a:prstGeom prst="rect">
            <a:avLst/>
          </a:prstGeom>
          <a:noFill/>
        </p:spPr>
        <p:txBody>
          <a:bodyPr wrap="square" anchor="t" lIns="0" rIns="0" tIns="0" bIns="0">
            <a:noAutofit/>
          </a:bodyPr>
          <a:lstStyle/>
          <a:p>
            <a:pPr algn="ctr">
              <a:lnSpc>
                <a:spcPts val="3150"/>
              </a:lnSpc>
            </a:pPr>
            <a:r>
              <a:rPr sz="3150" b="0" i="0">
                <a:solidFill>
                  <a:srgbClr val="745766"/>
                </a:solidFill>
                <a:latin typeface="Larken Regular"/>
              </a:rPr>
              <a:t>Katie Brown</a:t>
            </a:r>
          </a:p>
        </p:txBody>
      </p:sp>
      <p:sp>
        <p:nvSpPr>
          <p:cNvPr id="10" name="s4-disc-2-ring"/>
          <p:cNvSpPr/>
          <p:nvPr/>
        </p:nvSpPr>
        <p:spPr>
          <a:xfrm>
            <a:off x="5724525" y="4486275"/>
            <a:ext cx="2076450" cy="2076450"/>
          </a:xfrm>
          <a:prstGeom prst="ellipse">
            <a:avLst/>
          </a:prstGeom>
          <a:solidFill>
            <a:srgbClr val="7457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s4-disc-2" descr="_baked_s4-disc-2.png"/>
          <p:cNvPicPr>
            <a:picLocks noChangeAspect="1"/>
          </p:cNvPicPr>
          <p:nvPr/>
        </p:nvPicPr>
        <p:blipFill>
          <a:blip r:embed="rId4"/>
          <a:stretch>
            <a:fillRect/>
          </a:stretch>
        </p:blipFill>
        <p:spPr>
          <a:xfrm>
            <a:off x="5819775" y="4581525"/>
            <a:ext cx="1885950" cy="1885950"/>
          </a:xfrm>
          <a:prstGeom prst="rect">
            <a:avLst/>
          </a:prstGeom>
        </p:spPr>
      </p:pic>
      <p:sp>
        <p:nvSpPr>
          <p:cNvPr id="12" name="s4-name-2"/>
          <p:cNvSpPr txBox="1"/>
          <p:nvPr/>
        </p:nvSpPr>
        <p:spPr>
          <a:xfrm>
            <a:off x="4667250" y="6591300"/>
            <a:ext cx="4191000" cy="480060"/>
          </a:xfrm>
          <a:prstGeom prst="rect">
            <a:avLst/>
          </a:prstGeom>
          <a:noFill/>
        </p:spPr>
        <p:txBody>
          <a:bodyPr wrap="square" anchor="t" lIns="0" rIns="0" tIns="0" bIns="0">
            <a:noAutofit/>
          </a:bodyPr>
          <a:lstStyle/>
          <a:p>
            <a:pPr algn="ctr">
              <a:lnSpc>
                <a:spcPts val="3150"/>
              </a:lnSpc>
            </a:pPr>
            <a:r>
              <a:rPr sz="3150" b="0" i="0">
                <a:solidFill>
                  <a:srgbClr val="745766"/>
                </a:solidFill>
                <a:latin typeface="Larken Regular"/>
              </a:rPr>
              <a:t>Alexi Pallpratt</a:t>
            </a:r>
          </a:p>
        </p:txBody>
      </p:sp>
      <p:sp>
        <p:nvSpPr>
          <p:cNvPr id="13" name="body"/>
          <p:cNvSpPr txBox="1"/>
          <p:nvPr/>
        </p:nvSpPr>
        <p:spPr>
          <a:xfrm>
            <a:off x="571500" y="7429500"/>
            <a:ext cx="9144000" cy="1238250"/>
          </a:xfrm>
          <a:prstGeom prst="rect">
            <a:avLst/>
          </a:prstGeom>
          <a:noFill/>
        </p:spPr>
        <p:txBody>
          <a:bodyPr wrap="square" anchor="t" lIns="0" rIns="0" tIns="0" bIns="0">
            <a:noAutofit/>
          </a:bodyPr>
          <a:lstStyle/>
          <a:p>
            <a:pPr algn="ctr">
              <a:lnSpc>
                <a:spcPts val="3825"/>
              </a:lnSpc>
            </a:pPr>
            <a:r>
              <a:rPr sz="3000" b="0" i="0">
                <a:solidFill>
                  <a:srgbClr val="745766"/>
                </a:solidFill>
                <a:latin typeface="Work Sans"/>
              </a:rPr>
              <a:t>All yoga teachers, students, and trainers from Sydney and beyond are warmly invited to join us.</a:t>
            </a:r>
          </a:p>
        </p:txBody>
      </p:sp>
      <p:sp>
        <p:nvSpPr>
          <p:cNvPr id="14" name="detail"/>
          <p:cNvSpPr txBox="1"/>
          <p:nvPr/>
        </p:nvSpPr>
        <p:spPr>
          <a:xfrm>
            <a:off x="571500" y="8820150"/>
            <a:ext cx="9144000" cy="1120140"/>
          </a:xfrm>
          <a:prstGeom prst="rect">
            <a:avLst/>
          </a:prstGeom>
          <a:noFill/>
        </p:spPr>
        <p:txBody>
          <a:bodyPr wrap="square" anchor="t" lIns="0" rIns="0" tIns="0" bIns="0">
            <a:noAutofit/>
          </a:bodyPr>
          <a:lstStyle/>
          <a:p>
            <a:pPr algn="ctr">
              <a:lnSpc>
                <a:spcPts val="4409"/>
              </a:lnSpc>
            </a:pPr>
            <a:r>
              <a:rPr sz="3150" b="1" i="0">
                <a:solidFill>
                  <a:srgbClr val="745766"/>
                </a:solidFill>
                <a:latin typeface="Work Sans"/>
              </a:rPr>
              <a:t>Sunday 9 November | 10am - 1pm</a:t>
            </a:r>
          </a:p>
          <a:p>
            <a:pPr algn="ctr">
              <a:lnSpc>
                <a:spcPts val="4409"/>
              </a:lnSpc>
            </a:pPr>
            <a:r>
              <a:rPr sz="3150" b="1" i="0">
                <a:solidFill>
                  <a:srgbClr val="745766"/>
                </a:solidFill>
                <a:latin typeface="Work Sans"/>
              </a:rPr>
              <a:t>Crows Nest Centre, Crows Nest, NSW</a:t>
            </a:r>
          </a:p>
        </p:txBody>
      </p:sp>
      <p:sp>
        <p:nvSpPr>
          <p:cNvPr id="15" name="register"/>
          <p:cNvSpPr txBox="1"/>
          <p:nvPr/>
        </p:nvSpPr>
        <p:spPr>
          <a:xfrm>
            <a:off x="571500" y="10410825"/>
            <a:ext cx="9144000" cy="476250"/>
          </a:xfrm>
          <a:prstGeom prst="rect">
            <a:avLst/>
          </a:prstGeom>
          <a:noFill/>
        </p:spPr>
        <p:txBody>
          <a:bodyPr wrap="square" anchor="t" lIns="0" rIns="0" tIns="0" bIns="0">
            <a:noAutofit/>
          </a:bodyPr>
          <a:lstStyle/>
          <a:p>
            <a:pPr algn="ctr">
              <a:lnSpc>
                <a:spcPts val="3300"/>
              </a:lnSpc>
            </a:pPr>
            <a:r>
              <a:rPr sz="3000" b="0" i="0">
                <a:solidFill>
                  <a:srgbClr val="745766"/>
                </a:solidFill>
                <a:latin typeface="Work Sans"/>
              </a:rPr>
              <a:t>Register at yogaaustralia.org.au/events</a:t>
            </a:r>
          </a:p>
        </p:txBody>
      </p:sp>
      <p:pic>
        <p:nvPicPr>
          <p:cNvPr id="16" name="lockup" descr="YA logo RGB 800w.png"/>
          <p:cNvPicPr>
            <a:picLocks noChangeAspect="1"/>
          </p:cNvPicPr>
          <p:nvPr/>
        </p:nvPicPr>
        <p:blipFill>
          <a:blip r:embed="rId5"/>
          <a:stretch>
            <a:fillRect/>
          </a:stretch>
        </p:blipFill>
        <p:spPr>
          <a:xfrm>
            <a:off x="3409950" y="11496675"/>
            <a:ext cx="3467100" cy="108346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